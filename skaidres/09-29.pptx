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3915-6C81-4D4E-0955-B78B2DF54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BDE22-69B9-30BC-C21F-992D5B50D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EE18-C259-2A6A-EF4F-606A42B5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FC71-1CEF-189B-20DB-6FA959CD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355ED-EE1E-F53B-133A-6FD286F8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4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6F1D-BED0-55E6-E458-87909863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DC1EB-492E-92C5-BE09-EAC392C4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08B9-0711-371C-EA64-0F3F480E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9C63D-9C19-16D2-4D97-2892F4EB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627E3-B11A-FCF2-4E5A-239FADFB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6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8508-3C10-3BE2-29B9-6C02D397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C45AB-7B69-FD20-FCA9-759CE9E83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BBC33-C0B1-E369-E5BE-0AA6AFA0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E44D-B080-51C2-C97D-8A4F16F3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8AAD-F17D-F367-61E7-C3AC1F26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7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8057-89E1-BB2F-CB3B-BC6C99CF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DD66-0688-6ED4-3079-F4CE8D1E7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79567-8916-6B0F-EB95-B3D074B61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98B8E-B274-90B4-C59C-69FCFB5F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8D905-2ABF-BBA8-5C8E-9977FD12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456FF-F8AA-38C4-4DB3-3AEC74B1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6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FEFA-F5D7-467B-7E4F-87B3E949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D3FAE-3C8C-B589-DE55-C106F40BD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A34A7-4D5F-D906-D299-1CA94D46E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14EE9-0DD1-DD37-3513-162B5727E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D4B6C-7D80-CF86-1404-053572B56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16B9B-4333-E082-EF48-D76F882E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86FB0-B95B-C8C9-2BCA-A27FF3EB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BB2E1-EE3E-B4E7-2375-C3FF786B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7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C63C-746D-E60E-E6A6-271D50D6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CCDB0-8B53-4B13-C928-B5E8FB31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DD8889-8811-AC4D-C0C7-68DCFB0B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72C3D-7748-5335-493B-ECD372E2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6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E71F5-C960-4D5B-34BF-A7638327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C252E-FD45-6915-E7CF-3123A050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F000F-3399-4342-3C9B-0A00A1E2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2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ECB5-EEF9-327A-3500-6E28AF04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72E8-7D8D-238A-1E9D-8DFFB7DC6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A434D-9B8C-A254-5CB5-77827F06C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59C0E-34B5-9888-3687-B1B3B877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71B2C-6E29-EDBB-2589-464182E9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1A994-D6E6-B70C-735D-216DE373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2846-9266-9788-ECDD-210DC7450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4077D-3B62-0C44-9A4E-CFCCF7CCD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C9503-412F-6459-42DE-B79FC2C9F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641B0-6B08-6415-1881-CE60C9C5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094D5-C4EF-1874-EBCE-496131E8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4EAF0-A046-9BFF-A9D9-3A0EBDF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0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2923-92BE-4297-0091-BB8299A0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1DDC1-1312-211F-58FC-321B9C84F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A4B8F-AF8A-65AD-9706-7AA385CD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CF033-C39F-D585-AB4A-56633908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0CB6-6809-C9D5-839B-C329E239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1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B38BC-1431-729F-3BB7-A4C5F9354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C871C-4C56-980B-D207-442666666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D57CF-0123-A921-FF4B-E2FEEFA0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F3232-9428-1CC1-3657-931839C0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24361-5650-2863-F293-4CD04DE0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8F87D-87A5-04F0-1544-A42C810E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6E246-6AB5-F2BC-60FB-1ECA0457B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AD210-82FB-BEE7-7608-922444613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ECE8A-439A-4BCD-A7DC-EFE035EFB41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B55C-0776-1CD9-5760-B02E0DBDD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61AD6-D726-6DE6-0D66-FDE97DDC4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5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sz="5600" dirty="0" err="1"/>
              <a:t>Pamoka</a:t>
            </a:r>
            <a:r>
              <a:rPr sz="5600" dirty="0"/>
              <a:t> 2: IDE, </a:t>
            </a:r>
            <a:r>
              <a:rPr sz="5600" dirty="0" err="1"/>
              <a:t>duomenys</a:t>
            </a:r>
            <a:r>
              <a:rPr sz="5600" dirty="0"/>
              <a:t> </a:t>
            </a:r>
            <a:r>
              <a:rPr sz="5600" dirty="0" err="1"/>
              <a:t>ir</a:t>
            </a:r>
            <a:r>
              <a:rPr sz="5600" dirty="0"/>
              <a:t> </a:t>
            </a:r>
            <a:r>
              <a:rPr lang="lt-LT" sz="5600" dirty="0" err="1"/>
              <a:t>ifai</a:t>
            </a:r>
            <a:endParaRPr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Šiandien yapinsim apie: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800">
                <a:solidFill>
                  <a:srgbClr val="000000"/>
                </a:solidFill>
              </a:rPr>
              <a:t>IDE: kur dabar rašysim kodą normaliai</a:t>
            </a:r>
          </a:p>
          <a:p>
            <a:r>
              <a:rPr sz="2800">
                <a:solidFill>
                  <a:srgbClr val="000000"/>
                </a:solidFill>
              </a:rPr>
              <a:t>input() melą ir int()/float() gelbėtojus</a:t>
            </a:r>
          </a:p>
          <a:p>
            <a:r>
              <a:rPr sz="2800">
                <a:solidFill>
                  <a:srgbClr val="000000"/>
                </a:solidFill>
              </a:rPr>
              <a:t>True / False ir palyginimus</a:t>
            </a:r>
          </a:p>
          <a:p>
            <a:r>
              <a:rPr sz="2800">
                <a:solidFill>
                  <a:srgbClr val="000000"/>
                </a:solidFill>
              </a:rPr>
              <a:t>if / elif / else</a:t>
            </a:r>
          </a:p>
          <a:p>
            <a:r>
              <a:rPr sz="2800">
                <a:solidFill>
                  <a:srgbClr val="000000"/>
                </a:solidFill>
              </a:rPr>
              <a:t>and / or / not</a:t>
            </a:r>
          </a:p>
          <a:p>
            <a:r>
              <a:rPr sz="2800">
                <a:solidFill>
                  <a:srgbClr val="000000"/>
                </a:solidFill>
              </a:rPr>
              <a:t>Mano mini LeetCode įrankį</a:t>
            </a:r>
          </a:p>
          <a:p>
            <a:r>
              <a:rPr sz="2800">
                <a:solidFill>
                  <a:srgbClr val="000000"/>
                </a:solidFill>
              </a:rPr>
              <a:t>Daug praktikos, nes kitaip smegenys nekompiliuoja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ED13-85AA-D6E3-82C5-9D1C7866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Bet pirma </a:t>
            </a:r>
            <a:r>
              <a:rPr lang="lt-LT" dirty="0" err="1"/>
              <a:t>mum</a:t>
            </a:r>
            <a:r>
              <a:rPr lang="lt-LT" dirty="0"/>
              <a:t> jau šiandien reikės naudotis </a:t>
            </a:r>
            <a:r>
              <a:rPr lang="lt-LT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27CE8-B2B0-03A7-714E-FAF337C8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Ne šiandien neplanuoju labai detalei aiškint, kas čia per įrankis, neapsimoka tiesiog.</a:t>
            </a:r>
          </a:p>
          <a:p>
            <a:r>
              <a:rPr lang="lt-LT" dirty="0"/>
              <a:t>Dabar jis nebus </a:t>
            </a:r>
            <a:r>
              <a:rPr lang="lt-LT" dirty="0" err="1"/>
              <a:t>jum</a:t>
            </a:r>
            <a:r>
              <a:rPr lang="lt-LT" dirty="0"/>
              <a:t> per daug naudingas, bet pripraskite juo naudotis, jis jus labai </a:t>
            </a:r>
            <a:r>
              <a:rPr lang="lt-LT" dirty="0" err="1"/>
              <a:t>labai</a:t>
            </a:r>
            <a:r>
              <a:rPr lang="lt-LT" dirty="0"/>
              <a:t> </a:t>
            </a:r>
            <a:r>
              <a:rPr lang="lt-LT" dirty="0" err="1"/>
              <a:t>labai</a:t>
            </a:r>
            <a:r>
              <a:rPr lang="lt-LT" dirty="0"/>
              <a:t> gelbės, ateity.</a:t>
            </a:r>
          </a:p>
          <a:p>
            <a:r>
              <a:rPr lang="lt-LT" dirty="0"/>
              <a:t>NIEKO BLET NEPUSHINKIT, AŠ UŽDRAUDĘS, SUSIKURSIT VĖLIAU SAVO BRANCHES IR SĖDĖSIT LAIMINGI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Greitas recap iš praeito karto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700" dirty="0" err="1">
                <a:solidFill>
                  <a:srgbClr val="000000"/>
                </a:solidFill>
              </a:rPr>
              <a:t>Programa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yra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instrukcijų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rinkinys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 err="1">
                <a:solidFill>
                  <a:srgbClr val="000000"/>
                </a:solidFill>
              </a:rPr>
              <a:t>Kintamieji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yra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vardai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reikšmėms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 err="1">
                <a:solidFill>
                  <a:srgbClr val="000000"/>
                </a:solidFill>
              </a:rPr>
              <a:t>Operatoriai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keičia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reikšmes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 err="1">
                <a:solidFill>
                  <a:srgbClr val="000000"/>
                </a:solidFill>
              </a:rPr>
              <a:t>Išraiškos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pagamina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naujas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reikšmes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>
                <a:solidFill>
                  <a:srgbClr val="000000"/>
                </a:solidFill>
              </a:rPr>
              <a:t>Input → Processing → Output</a:t>
            </a:r>
          </a:p>
          <a:p>
            <a:r>
              <a:rPr sz="2700" dirty="0">
                <a:solidFill>
                  <a:srgbClr val="000000"/>
                </a:solidFill>
              </a:rPr>
              <a:t>Predict → run → compare, </a:t>
            </a:r>
            <a:r>
              <a:rPr sz="2700" dirty="0" err="1">
                <a:solidFill>
                  <a:srgbClr val="000000"/>
                </a:solidFill>
              </a:rPr>
              <a:t>nes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spėlioti</a:t>
            </a:r>
            <a:r>
              <a:rPr sz="2700" dirty="0">
                <a:solidFill>
                  <a:srgbClr val="000000"/>
                </a:solidFill>
              </a:rPr>
              <a:t> be </a:t>
            </a:r>
            <a:r>
              <a:rPr sz="2700" dirty="0" err="1">
                <a:solidFill>
                  <a:srgbClr val="000000"/>
                </a:solidFill>
              </a:rPr>
              <a:t>tikrinimo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yra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magija</a:t>
            </a:r>
            <a:r>
              <a:rPr sz="2700" dirty="0">
                <a:solidFill>
                  <a:srgbClr val="000000"/>
                </a:solidFill>
              </a:rPr>
              <a:t>, o ne </a:t>
            </a:r>
            <a:r>
              <a:rPr sz="2700" dirty="0" err="1">
                <a:solidFill>
                  <a:srgbClr val="000000"/>
                </a:solidFill>
              </a:rPr>
              <a:t>programavimas</a:t>
            </a:r>
            <a:endParaRPr sz="27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 nėra programavimas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700" dirty="0">
                <a:solidFill>
                  <a:srgbClr val="000000"/>
                </a:solidFill>
              </a:rPr>
              <a:t>IDE </a:t>
            </a:r>
            <a:r>
              <a:rPr sz="2700" dirty="0" err="1">
                <a:solidFill>
                  <a:srgbClr val="000000"/>
                </a:solidFill>
              </a:rPr>
              <a:t>yra</a:t>
            </a:r>
            <a:r>
              <a:rPr lang="lt-LT" sz="2700" dirty="0">
                <a:solidFill>
                  <a:srgbClr val="000000"/>
                </a:solidFill>
              </a:rPr>
              <a:t> tiesiog labai </a:t>
            </a:r>
            <a:r>
              <a:rPr lang="lt-LT" sz="2700" dirty="0" err="1">
                <a:solidFill>
                  <a:srgbClr val="000000"/>
                </a:solidFill>
              </a:rPr>
              <a:t>fancy</a:t>
            </a:r>
            <a:r>
              <a:rPr lang="lt-LT" sz="2700" dirty="0">
                <a:solidFill>
                  <a:srgbClr val="000000"/>
                </a:solidFill>
              </a:rPr>
              <a:t> teksto redagavimo programa arba kitaip tiesiog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patogus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darbo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stalas</a:t>
            </a:r>
            <a:r>
              <a:rPr lang="lt-LT" sz="2700" dirty="0">
                <a:solidFill>
                  <a:srgbClr val="000000"/>
                </a:solidFill>
              </a:rPr>
              <a:t>.</a:t>
            </a:r>
          </a:p>
          <a:p>
            <a:r>
              <a:rPr lang="lt-LT" sz="2700" dirty="0">
                <a:solidFill>
                  <a:srgbClr val="000000"/>
                </a:solidFill>
              </a:rPr>
              <a:t>Kodą gali rašyti ir </a:t>
            </a:r>
            <a:r>
              <a:rPr lang="lt-LT" sz="2700" dirty="0" err="1">
                <a:solidFill>
                  <a:srgbClr val="000000"/>
                </a:solidFill>
              </a:rPr>
              <a:t>notepade</a:t>
            </a:r>
            <a:r>
              <a:rPr lang="lt-LT" sz="2700" dirty="0">
                <a:solidFill>
                  <a:srgbClr val="000000"/>
                </a:solidFill>
              </a:rPr>
              <a:t>, man tai netrukdo, jei norit galit būt maniakai.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>
                <a:solidFill>
                  <a:srgbClr val="000000"/>
                </a:solidFill>
              </a:rPr>
              <a:t>Python vis </a:t>
            </a:r>
            <a:r>
              <a:rPr sz="2700" dirty="0" err="1">
                <a:solidFill>
                  <a:srgbClr val="000000"/>
                </a:solidFill>
              </a:rPr>
              <a:t>dar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yra</a:t>
            </a:r>
            <a:r>
              <a:rPr sz="2700" dirty="0">
                <a:solidFill>
                  <a:srgbClr val="000000"/>
                </a:solidFill>
              </a:rPr>
              <a:t> Python</a:t>
            </a:r>
            <a:r>
              <a:rPr lang="lt-LT" sz="2700" dirty="0">
                <a:solidFill>
                  <a:srgbClr val="000000"/>
                </a:solidFill>
              </a:rPr>
              <a:t>, IDE programavimo kalbos nekeičia.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 err="1">
                <a:solidFill>
                  <a:srgbClr val="000000"/>
                </a:solidFill>
              </a:rPr>
              <a:t>Terminalas</a:t>
            </a:r>
            <a:r>
              <a:rPr sz="2700" dirty="0">
                <a:solidFill>
                  <a:srgbClr val="000000"/>
                </a:solidFill>
              </a:rPr>
              <a:t> vis </a:t>
            </a:r>
            <a:r>
              <a:rPr sz="2700" dirty="0" err="1">
                <a:solidFill>
                  <a:srgbClr val="000000"/>
                </a:solidFill>
              </a:rPr>
              <a:t>dar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egzistuoja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>
                <a:solidFill>
                  <a:srgbClr val="000000"/>
                </a:solidFill>
              </a:rPr>
              <a:t>VS Code </a:t>
            </a:r>
            <a:r>
              <a:rPr sz="2700" dirty="0" err="1">
                <a:solidFill>
                  <a:srgbClr val="000000"/>
                </a:solidFill>
              </a:rPr>
              <a:t>tiesiog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padeda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matyti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failus</a:t>
            </a:r>
            <a:r>
              <a:rPr sz="2700" dirty="0">
                <a:solidFill>
                  <a:srgbClr val="000000"/>
                </a:solidFill>
              </a:rPr>
              <a:t>, </a:t>
            </a:r>
            <a:r>
              <a:rPr sz="2700" dirty="0" err="1">
                <a:solidFill>
                  <a:srgbClr val="000000"/>
                </a:solidFill>
              </a:rPr>
              <a:t>klaidas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ir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mažiau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kentėti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>
                <a:solidFill>
                  <a:srgbClr val="000000"/>
                </a:solidFill>
              </a:rPr>
              <a:t>Jei IDE </a:t>
            </a:r>
            <a:r>
              <a:rPr sz="2700" dirty="0" err="1">
                <a:solidFill>
                  <a:srgbClr val="000000"/>
                </a:solidFill>
              </a:rPr>
              <a:t>neveikia</a:t>
            </a:r>
            <a:r>
              <a:rPr sz="2700" dirty="0">
                <a:solidFill>
                  <a:srgbClr val="000000"/>
                </a:solidFill>
              </a:rPr>
              <a:t>, </a:t>
            </a:r>
            <a:r>
              <a:rPr sz="2700" dirty="0" err="1">
                <a:solidFill>
                  <a:srgbClr val="000000"/>
                </a:solidFill>
              </a:rPr>
              <a:t>programa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teoriškai</a:t>
            </a:r>
            <a:r>
              <a:rPr sz="2700" dirty="0">
                <a:solidFill>
                  <a:srgbClr val="000000"/>
                </a:solidFill>
              </a:rPr>
              <a:t> vis </a:t>
            </a:r>
            <a:r>
              <a:rPr sz="2700" dirty="0" err="1">
                <a:solidFill>
                  <a:srgbClr val="000000"/>
                </a:solidFill>
              </a:rPr>
              <a:t>tiek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gali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veikti</a:t>
            </a:r>
            <a:r>
              <a:rPr sz="2700" dirty="0">
                <a:solidFill>
                  <a:srgbClr val="000000"/>
                </a:solidFill>
              </a:rPr>
              <a:t>. Jei Python </a:t>
            </a:r>
            <a:r>
              <a:rPr sz="2700" dirty="0" err="1">
                <a:solidFill>
                  <a:srgbClr val="000000"/>
                </a:solidFill>
              </a:rPr>
              <a:t>neveikia</a:t>
            </a:r>
            <a:r>
              <a:rPr sz="2700" dirty="0">
                <a:solidFill>
                  <a:srgbClr val="000000"/>
                </a:solidFill>
              </a:rPr>
              <a:t>, </a:t>
            </a:r>
            <a:r>
              <a:rPr sz="2700" dirty="0" err="1">
                <a:solidFill>
                  <a:srgbClr val="000000"/>
                </a:solidFill>
              </a:rPr>
              <a:t>tada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jau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liūdna</a:t>
            </a:r>
            <a:r>
              <a:rPr sz="27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Ką dabar darom su VS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800" dirty="0" err="1">
                <a:solidFill>
                  <a:srgbClr val="000000"/>
                </a:solidFill>
              </a:rPr>
              <a:t>Susikuriam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folderį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pamokoms</a:t>
            </a:r>
            <a:endParaRPr sz="2800" dirty="0">
              <a:solidFill>
                <a:srgbClr val="000000"/>
              </a:solidFill>
            </a:endParaRPr>
          </a:p>
          <a:p>
            <a:r>
              <a:rPr sz="2800" dirty="0" err="1">
                <a:solidFill>
                  <a:srgbClr val="000000"/>
                </a:solidFill>
              </a:rPr>
              <a:t>Atsidarom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tą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folderį</a:t>
            </a:r>
            <a:r>
              <a:rPr sz="2800" dirty="0">
                <a:solidFill>
                  <a:srgbClr val="000000"/>
                </a:solidFill>
              </a:rPr>
              <a:t> per VS Code</a:t>
            </a:r>
          </a:p>
          <a:p>
            <a:r>
              <a:rPr sz="2800" dirty="0" err="1">
                <a:solidFill>
                  <a:srgbClr val="000000"/>
                </a:solidFill>
              </a:rPr>
              <a:t>Susikuriam</a:t>
            </a:r>
            <a:r>
              <a:rPr sz="2800" dirty="0">
                <a:solidFill>
                  <a:srgbClr val="000000"/>
                </a:solidFill>
              </a:rPr>
              <a:t> .</a:t>
            </a:r>
            <a:r>
              <a:rPr sz="2800" dirty="0" err="1">
                <a:solidFill>
                  <a:srgbClr val="000000"/>
                </a:solidFill>
              </a:rPr>
              <a:t>py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failą</a:t>
            </a:r>
            <a:endParaRPr sz="2800" dirty="0">
              <a:solidFill>
                <a:srgbClr val="000000"/>
              </a:solidFill>
            </a:endParaRPr>
          </a:p>
          <a:p>
            <a:r>
              <a:rPr sz="2800" dirty="0" err="1">
                <a:solidFill>
                  <a:srgbClr val="000000"/>
                </a:solidFill>
              </a:rPr>
              <a:t>Paleidžiam</a:t>
            </a:r>
            <a:r>
              <a:rPr sz="2800" dirty="0">
                <a:solidFill>
                  <a:srgbClr val="000000"/>
                </a:solidFill>
              </a:rPr>
              <a:t> per </a:t>
            </a:r>
            <a:r>
              <a:rPr sz="2800" dirty="0" err="1">
                <a:solidFill>
                  <a:srgbClr val="000000"/>
                </a:solidFill>
              </a:rPr>
              <a:t>terminalą</a:t>
            </a:r>
            <a:endParaRPr sz="2800" dirty="0">
              <a:solidFill>
                <a:srgbClr val="000000"/>
              </a:solidFill>
            </a:endParaRPr>
          </a:p>
          <a:p>
            <a:r>
              <a:rPr sz="2800" dirty="0" err="1">
                <a:solidFill>
                  <a:srgbClr val="000000"/>
                </a:solidFill>
              </a:rPr>
              <a:t>Jeigu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kažkas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raudona</a:t>
            </a:r>
            <a:r>
              <a:rPr sz="2800" dirty="0">
                <a:solidFill>
                  <a:srgbClr val="000000"/>
                </a:solidFill>
              </a:rPr>
              <a:t>, </a:t>
            </a:r>
            <a:r>
              <a:rPr sz="2800" dirty="0" err="1">
                <a:solidFill>
                  <a:srgbClr val="000000"/>
                </a:solidFill>
              </a:rPr>
              <a:t>nereiškia</a:t>
            </a:r>
            <a:r>
              <a:rPr sz="2800" dirty="0">
                <a:solidFill>
                  <a:srgbClr val="000000"/>
                </a:solidFill>
              </a:rPr>
              <a:t>, </a:t>
            </a:r>
            <a:r>
              <a:rPr sz="2800" dirty="0" err="1">
                <a:solidFill>
                  <a:srgbClr val="000000"/>
                </a:solidFill>
              </a:rPr>
              <a:t>kad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gyvenimas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dirty="0" err="1">
                <a:solidFill>
                  <a:srgbClr val="000000"/>
                </a:solidFill>
              </a:rPr>
              <a:t>baigėsi</a:t>
            </a:r>
            <a:endParaRPr lang="lt-LT" sz="2800" dirty="0">
              <a:solidFill>
                <a:srgbClr val="000000"/>
              </a:solidFill>
            </a:endParaRPr>
          </a:p>
          <a:p>
            <a:r>
              <a:rPr lang="lt-LT" dirty="0">
                <a:solidFill>
                  <a:srgbClr val="000000"/>
                </a:solidFill>
              </a:rPr>
              <a:t>Pakartosim </a:t>
            </a:r>
            <a:r>
              <a:rPr lang="lt-LT" dirty="0" err="1">
                <a:solidFill>
                  <a:srgbClr val="000000"/>
                </a:solidFill>
              </a:rPr>
              <a:t>praitos</a:t>
            </a:r>
            <a:r>
              <a:rPr lang="lt-LT" dirty="0">
                <a:solidFill>
                  <a:srgbClr val="000000"/>
                </a:solidFill>
              </a:rPr>
              <a:t> savaitės </a:t>
            </a:r>
            <a:r>
              <a:rPr lang="lt-LT" dirty="0" err="1">
                <a:solidFill>
                  <a:srgbClr val="000000"/>
                </a:solidFill>
              </a:rPr>
              <a:t>prikoliukus</a:t>
            </a:r>
            <a:r>
              <a:rPr lang="lt-LT" dirty="0">
                <a:solidFill>
                  <a:srgbClr val="000000"/>
                </a:solidFill>
              </a:rPr>
              <a:t>, galėsite testuoti kodą VS </a:t>
            </a:r>
            <a:r>
              <a:rPr lang="lt-LT" dirty="0" err="1">
                <a:solidFill>
                  <a:srgbClr val="000000"/>
                </a:solidFill>
              </a:rPr>
              <a:t>Code</a:t>
            </a:r>
            <a:r>
              <a:rPr lang="lt-LT" dirty="0">
                <a:solidFill>
                  <a:srgbClr val="000000"/>
                </a:solidFill>
              </a:rPr>
              <a:t>, nes bus nemažai kodo pavyzdžių.</a:t>
            </a:r>
            <a:endParaRPr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input() mus apgavo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input() VISADA grąžina tekstą. Net jeigu žmogus įvedė skaičių.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1015079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 dirty="0">
                <a:solidFill>
                  <a:srgbClr val="000000"/>
                </a:solidFill>
                <a:latin typeface="Consolas"/>
              </a:rPr>
              <a:t>age = input("Kiek tau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metų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? ")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print(age + 1)   #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čia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 Python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pradeda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verkti</a:t>
            </a:r>
            <a:r>
              <a:rPr lang="lt-LT" sz="1800" dirty="0">
                <a:solidFill>
                  <a:srgbClr val="000000"/>
                </a:solidFill>
                <a:latin typeface="Consolas"/>
              </a:rPr>
              <a:t>, nes simbolių ir skaičiaus sudėti negali</a:t>
            </a:r>
            <a:endParaRPr sz="18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3412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>
                <a:solidFill>
                  <a:srgbClr val="000000"/>
                </a:solidFill>
              </a:rPr>
              <a:t>Kompiuteris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nėra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ekstrasensas</a:t>
            </a:r>
            <a:r>
              <a:rPr sz="2400" dirty="0">
                <a:solidFill>
                  <a:srgbClr val="000000"/>
                </a:solidFill>
              </a:rPr>
              <a:t>. "18" </a:t>
            </a:r>
            <a:r>
              <a:rPr sz="2400" dirty="0" err="1">
                <a:solidFill>
                  <a:srgbClr val="000000"/>
                </a:solidFill>
              </a:rPr>
              <a:t>ir</a:t>
            </a:r>
            <a:r>
              <a:rPr sz="2400" dirty="0">
                <a:solidFill>
                  <a:srgbClr val="000000"/>
                </a:solidFill>
              </a:rPr>
              <a:t> 18 </a:t>
            </a:r>
            <a:r>
              <a:rPr sz="2400" dirty="0" err="1">
                <a:solidFill>
                  <a:srgbClr val="000000"/>
                </a:solidFill>
              </a:rPr>
              <a:t>nėra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tas</a:t>
            </a:r>
            <a:r>
              <a:rPr sz="2400" dirty="0">
                <a:solidFill>
                  <a:srgbClr val="000000"/>
                </a:solidFill>
              </a:rPr>
              <a:t> pats </a:t>
            </a:r>
            <a:r>
              <a:rPr sz="2400" dirty="0" err="1">
                <a:solidFill>
                  <a:srgbClr val="000000"/>
                </a:solidFill>
              </a:rPr>
              <a:t>dalykas</a:t>
            </a:r>
            <a:r>
              <a:rPr sz="2400" dirty="0">
                <a:solidFill>
                  <a:srgbClr val="000000"/>
                </a:solidFill>
              </a:rPr>
              <a:t>.</a:t>
            </a:r>
            <a:r>
              <a:rPr lang="lt-LT" sz="2400" dirty="0">
                <a:solidFill>
                  <a:srgbClr val="000000"/>
                </a:solidFill>
              </a:rPr>
              <a:t> </a:t>
            </a:r>
            <a:r>
              <a:rPr lang="lt-LT" sz="2400" dirty="0" err="1">
                <a:solidFill>
                  <a:srgbClr val="000000"/>
                </a:solidFill>
              </a:rPr>
              <a:t>Srting</a:t>
            </a:r>
            <a:r>
              <a:rPr lang="lt-LT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!=</a:t>
            </a:r>
            <a:r>
              <a:rPr lang="lt-LT" sz="2400" dirty="0">
                <a:solidFill>
                  <a:srgbClr val="000000"/>
                </a:solidFill>
              </a:rPr>
              <a:t> </a:t>
            </a:r>
            <a:r>
              <a:rPr lang="lt-LT" sz="2400" dirty="0" err="1">
                <a:solidFill>
                  <a:srgbClr val="000000"/>
                </a:solidFill>
              </a:rPr>
              <a:t>int</a:t>
            </a:r>
            <a:r>
              <a:rPr lang="en-US" sz="2400" dirty="0">
                <a:solidFill>
                  <a:srgbClr val="000000"/>
                </a:solidFill>
              </a:rPr>
              <a:t>…</a:t>
            </a:r>
            <a:endParaRPr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int() ir float()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Jeigu tekstas iš tikro reiškia skaičių, turim jį paversti skaičiumi.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 dirty="0">
                <a:solidFill>
                  <a:srgbClr val="000000"/>
                </a:solidFill>
                <a:latin typeface="Consolas"/>
              </a:rPr>
              <a:t>age = int(input("Kiek tau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metų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? "))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height = float(input("Koks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ūgis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metrais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? "))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print(age + 1)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print(height * 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4939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000000"/>
                </a:solidFill>
              </a:rPr>
              <a:t>int – </a:t>
            </a:r>
            <a:r>
              <a:rPr sz="2400" dirty="0" err="1">
                <a:solidFill>
                  <a:srgbClr val="000000"/>
                </a:solidFill>
              </a:rPr>
              <a:t>sveikiems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skaičiams</a:t>
            </a:r>
            <a:r>
              <a:rPr sz="2400" dirty="0">
                <a:solidFill>
                  <a:srgbClr val="000000"/>
                </a:solidFill>
              </a:rPr>
              <a:t>, float – </a:t>
            </a:r>
            <a:r>
              <a:rPr sz="2400" dirty="0" err="1">
                <a:solidFill>
                  <a:srgbClr val="000000"/>
                </a:solidFill>
              </a:rPr>
              <a:t>skaičiams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su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kableliu</a:t>
            </a:r>
            <a:r>
              <a:rPr sz="2400" dirty="0">
                <a:solidFill>
                  <a:srgbClr val="000000"/>
                </a:solidFill>
              </a:rPr>
              <a:t>. 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sz="2400" dirty="0">
                <a:solidFill>
                  <a:srgbClr val="000000"/>
                </a:solidFill>
              </a:rPr>
              <a:t>Nu </a:t>
            </a:r>
            <a:r>
              <a:rPr sz="2400" dirty="0" err="1">
                <a:solidFill>
                  <a:srgbClr val="000000"/>
                </a:solidFill>
              </a:rPr>
              <a:t>su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tašku</a:t>
            </a:r>
            <a:r>
              <a:rPr sz="2400" dirty="0">
                <a:solidFill>
                  <a:srgbClr val="000000"/>
                </a:solidFill>
              </a:rPr>
              <a:t>, </a:t>
            </a:r>
            <a:r>
              <a:rPr sz="2400" dirty="0" err="1">
                <a:solidFill>
                  <a:srgbClr val="000000"/>
                </a:solidFill>
              </a:rPr>
              <a:t>nes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lang="lt-LT" sz="2400" dirty="0">
                <a:solidFill>
                  <a:srgbClr val="000000"/>
                </a:solidFill>
              </a:rPr>
              <a:t>p</a:t>
            </a:r>
            <a:r>
              <a:rPr sz="2400" dirty="0" err="1">
                <a:solidFill>
                  <a:srgbClr val="000000"/>
                </a:solidFill>
              </a:rPr>
              <a:t>ythonas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visos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kitos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programavimo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kalbos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yra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amerikie</a:t>
            </a:r>
            <a:r>
              <a:rPr lang="lt-LT" sz="2400" dirty="0" err="1">
                <a:solidFill>
                  <a:srgbClr val="000000"/>
                </a:solidFill>
              </a:rPr>
              <a:t>čiai</a:t>
            </a:r>
            <a:r>
              <a:rPr sz="24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Palyginimai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500" dirty="0" err="1">
                <a:solidFill>
                  <a:srgbClr val="000000"/>
                </a:solidFill>
              </a:rPr>
              <a:t>Palyginimas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yra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klausimas</a:t>
            </a:r>
            <a:r>
              <a:rPr sz="2500" dirty="0">
                <a:solidFill>
                  <a:srgbClr val="000000"/>
                </a:solidFill>
              </a:rPr>
              <a:t>, į </a:t>
            </a:r>
            <a:r>
              <a:rPr sz="2500" dirty="0" err="1">
                <a:solidFill>
                  <a:srgbClr val="000000"/>
                </a:solidFill>
              </a:rPr>
              <a:t>kurį</a:t>
            </a:r>
            <a:r>
              <a:rPr sz="2500" dirty="0">
                <a:solidFill>
                  <a:srgbClr val="000000"/>
                </a:solidFill>
              </a:rPr>
              <a:t> Python </a:t>
            </a:r>
            <a:r>
              <a:rPr sz="2500" dirty="0" err="1">
                <a:solidFill>
                  <a:srgbClr val="000000"/>
                </a:solidFill>
              </a:rPr>
              <a:t>atsako</a:t>
            </a:r>
            <a:r>
              <a:rPr sz="2500" dirty="0">
                <a:solidFill>
                  <a:srgbClr val="000000"/>
                </a:solidFill>
              </a:rPr>
              <a:t> True </a:t>
            </a:r>
            <a:r>
              <a:rPr sz="2500" dirty="0" err="1">
                <a:solidFill>
                  <a:srgbClr val="000000"/>
                </a:solidFill>
              </a:rPr>
              <a:t>arba</a:t>
            </a:r>
            <a:r>
              <a:rPr sz="2500" dirty="0">
                <a:solidFill>
                  <a:srgbClr val="000000"/>
                </a:solidFill>
              </a:rPr>
              <a:t> False</a:t>
            </a:r>
          </a:p>
          <a:p>
            <a:r>
              <a:rPr sz="2500" dirty="0">
                <a:solidFill>
                  <a:srgbClr val="000000"/>
                </a:solidFill>
              </a:rPr>
              <a:t>== </a:t>
            </a:r>
            <a:r>
              <a:rPr sz="2500" dirty="0" err="1">
                <a:solidFill>
                  <a:srgbClr val="000000"/>
                </a:solidFill>
              </a:rPr>
              <a:t>ar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lygu</a:t>
            </a:r>
            <a:endParaRPr sz="2500" dirty="0">
              <a:solidFill>
                <a:srgbClr val="000000"/>
              </a:solidFill>
            </a:endParaRPr>
          </a:p>
          <a:p>
            <a:r>
              <a:rPr sz="2500" dirty="0">
                <a:solidFill>
                  <a:srgbClr val="000000"/>
                </a:solidFill>
              </a:rPr>
              <a:t>!= </a:t>
            </a:r>
            <a:r>
              <a:rPr sz="2500" dirty="0" err="1">
                <a:solidFill>
                  <a:srgbClr val="000000"/>
                </a:solidFill>
              </a:rPr>
              <a:t>ar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nelygu</a:t>
            </a:r>
            <a:endParaRPr sz="2500" dirty="0">
              <a:solidFill>
                <a:srgbClr val="000000"/>
              </a:solidFill>
            </a:endParaRPr>
          </a:p>
          <a:p>
            <a:r>
              <a:rPr sz="2500" dirty="0">
                <a:solidFill>
                  <a:srgbClr val="000000"/>
                </a:solidFill>
              </a:rPr>
              <a:t>&gt; </a:t>
            </a:r>
            <a:r>
              <a:rPr sz="2500" dirty="0" err="1">
                <a:solidFill>
                  <a:srgbClr val="000000"/>
                </a:solidFill>
              </a:rPr>
              <a:t>daugiau</a:t>
            </a:r>
            <a:endParaRPr sz="2500" dirty="0">
              <a:solidFill>
                <a:srgbClr val="000000"/>
              </a:solidFill>
            </a:endParaRPr>
          </a:p>
          <a:p>
            <a:r>
              <a:rPr sz="2500" dirty="0">
                <a:solidFill>
                  <a:srgbClr val="000000"/>
                </a:solidFill>
              </a:rPr>
              <a:t>&lt; </a:t>
            </a:r>
            <a:r>
              <a:rPr sz="2500" dirty="0" err="1">
                <a:solidFill>
                  <a:srgbClr val="000000"/>
                </a:solidFill>
              </a:rPr>
              <a:t>mažiau</a:t>
            </a:r>
            <a:endParaRPr sz="2500" dirty="0">
              <a:solidFill>
                <a:srgbClr val="000000"/>
              </a:solidFill>
            </a:endParaRPr>
          </a:p>
          <a:p>
            <a:r>
              <a:rPr sz="2500" dirty="0">
                <a:solidFill>
                  <a:srgbClr val="000000"/>
                </a:solidFill>
              </a:rPr>
              <a:t>&gt;= </a:t>
            </a:r>
            <a:r>
              <a:rPr sz="2500" dirty="0" err="1">
                <a:solidFill>
                  <a:srgbClr val="000000"/>
                </a:solidFill>
              </a:rPr>
              <a:t>daugiau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arba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lygu</a:t>
            </a:r>
            <a:endParaRPr sz="2500" dirty="0">
              <a:solidFill>
                <a:srgbClr val="000000"/>
              </a:solidFill>
            </a:endParaRPr>
          </a:p>
          <a:p>
            <a:r>
              <a:rPr sz="2500" dirty="0">
                <a:solidFill>
                  <a:srgbClr val="000000"/>
                </a:solidFill>
              </a:rPr>
              <a:t>&lt;= </a:t>
            </a:r>
            <a:r>
              <a:rPr sz="2500" dirty="0" err="1">
                <a:solidFill>
                  <a:srgbClr val="000000"/>
                </a:solidFill>
              </a:rPr>
              <a:t>mažiau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arba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lygu</a:t>
            </a:r>
            <a:endParaRPr sz="2500" dirty="0">
              <a:solidFill>
                <a:srgbClr val="000000"/>
              </a:solidFill>
            </a:endParaRPr>
          </a:p>
          <a:p>
            <a:r>
              <a:rPr sz="2500" dirty="0">
                <a:solidFill>
                  <a:srgbClr val="000000"/>
                </a:solidFill>
              </a:rPr>
              <a:t>Vienas = </a:t>
            </a:r>
            <a:r>
              <a:rPr sz="2500" dirty="0" err="1">
                <a:solidFill>
                  <a:srgbClr val="000000"/>
                </a:solidFill>
              </a:rPr>
              <a:t>priskiria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reikšmę</a:t>
            </a:r>
            <a:r>
              <a:rPr sz="2500" dirty="0">
                <a:solidFill>
                  <a:srgbClr val="000000"/>
                </a:solidFill>
              </a:rPr>
              <a:t>. Du == </a:t>
            </a:r>
            <a:r>
              <a:rPr sz="2500" dirty="0" err="1">
                <a:solidFill>
                  <a:srgbClr val="000000"/>
                </a:solidFill>
              </a:rPr>
              <a:t>klausia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ar</a:t>
            </a:r>
            <a:r>
              <a:rPr sz="2500" dirty="0">
                <a:solidFill>
                  <a:srgbClr val="000000"/>
                </a:solidFill>
              </a:rPr>
              <a:t> </a:t>
            </a:r>
            <a:r>
              <a:rPr sz="2500" dirty="0" err="1">
                <a:solidFill>
                  <a:srgbClr val="000000"/>
                </a:solidFill>
              </a:rPr>
              <a:t>lygu</a:t>
            </a:r>
            <a:r>
              <a:rPr sz="2500" dirty="0">
                <a:solidFill>
                  <a:srgbClr val="000000"/>
                </a:solidFill>
              </a:rPr>
              <a:t>. </a:t>
            </a:r>
            <a:r>
              <a:rPr sz="2500" dirty="0" err="1">
                <a:solidFill>
                  <a:srgbClr val="000000"/>
                </a:solidFill>
              </a:rPr>
              <a:t>Nepainiokit</a:t>
            </a:r>
            <a:r>
              <a:rPr sz="2500" dirty="0">
                <a:solidFill>
                  <a:srgbClr val="000000"/>
                </a:solidFill>
              </a:rPr>
              <a:t>, </a:t>
            </a:r>
            <a:r>
              <a:rPr sz="2500" dirty="0" err="1">
                <a:solidFill>
                  <a:srgbClr val="000000"/>
                </a:solidFill>
              </a:rPr>
              <a:t>nes</a:t>
            </a:r>
            <a:r>
              <a:rPr sz="2500" dirty="0">
                <a:solidFill>
                  <a:srgbClr val="000000"/>
                </a:solidFill>
              </a:rPr>
              <a:t> bus </a:t>
            </a:r>
            <a:r>
              <a:rPr sz="2500" dirty="0" err="1">
                <a:solidFill>
                  <a:srgbClr val="000000"/>
                </a:solidFill>
              </a:rPr>
              <a:t>skausmo</a:t>
            </a:r>
            <a:r>
              <a:rPr sz="25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Booleanai: True /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Kai programa turi atsakyti taip/ne, ji dažniausiai dirba su boolean reikšmėm.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x = 10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print(x &gt; 5)      # True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print(x == 7)     # False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print(x != 3)     #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Booleanai atrodo maži, bet ant jų laikosi visa programavimo logika.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if: kompiuteris pagaliau gali rinktis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if leidžia programai vykdyti kodą tik tada, kai sąlyga yra True.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age = int(input("Amžius: "))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if age &gt;= 18: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print("Galima")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print("Programa baigė darbą")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Atitraukimas į šoną yra Pythono būdas pasakyti: šitas kodas priklauso ifui.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else ir elif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Kai vieno kelio neužtenka, duodam programai daugiau pasirinkimų.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 dirty="0">
                <a:solidFill>
                  <a:srgbClr val="000000"/>
                </a:solidFill>
                <a:latin typeface="Consolas"/>
              </a:rPr>
              <a:t>score = int(input("Balai: "))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if score &gt;= 90: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print("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Labai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gerai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")</a:t>
            </a:r>
            <a:br>
              <a:rPr dirty="0"/>
            </a:br>
            <a:r>
              <a:rPr sz="1800" dirty="0" err="1">
                <a:solidFill>
                  <a:srgbClr val="000000"/>
                </a:solidFill>
                <a:latin typeface="Consolas"/>
              </a:rPr>
              <a:t>elif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 score &gt;= 50: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print("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Praėjo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")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else: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print("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Kompiuteris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neverkia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, bet gal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tu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Consolas"/>
              </a:rPr>
              <a:t>verksi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elif tikrinamas tik jeigu ankstesnis if/elif buvo False.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 / or /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800">
                <a:solidFill>
                  <a:srgbClr val="000000"/>
                </a:solidFill>
              </a:rPr>
              <a:t>and – abi sąlygos turi būti True</a:t>
            </a:r>
          </a:p>
          <a:p>
            <a:r>
              <a:rPr sz="2800">
                <a:solidFill>
                  <a:srgbClr val="000000"/>
                </a:solidFill>
              </a:rPr>
              <a:t>or – užtenka bent vienos True</a:t>
            </a:r>
          </a:p>
          <a:p>
            <a:r>
              <a:rPr sz="2800">
                <a:solidFill>
                  <a:srgbClr val="000000"/>
                </a:solidFill>
              </a:rPr>
              <a:t>not – apverčia True į False ir False į True</a:t>
            </a:r>
          </a:p>
          <a:p>
            <a:endParaRPr sz="2800">
              <a:solidFill>
                <a:srgbClr val="000000"/>
              </a:solidFill>
            </a:endParaRPr>
          </a:p>
          <a:p>
            <a:r>
              <a:rPr sz="2800">
                <a:solidFill>
                  <a:srgbClr val="000000"/>
                </a:solidFill>
              </a:rPr>
              <a:t>Jeigu sąlyga darosi baisi kaip mokesčių deklaracija, suskaidykit ją į kintamuosius.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Pavyzdys: even / odd normaliai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6742230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dirty="0">
                <a:solidFill>
                  <a:srgbClr val="000000"/>
                </a:solidFill>
              </a:rPr>
              <a:t>Modulo % </a:t>
            </a:r>
            <a:r>
              <a:rPr sz="2600" dirty="0" err="1">
                <a:solidFill>
                  <a:srgbClr val="000000"/>
                </a:solidFill>
              </a:rPr>
              <a:t>grąžina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liekaną</a:t>
            </a:r>
            <a:r>
              <a:rPr sz="2600" dirty="0">
                <a:solidFill>
                  <a:srgbClr val="000000"/>
                </a:solidFill>
              </a:rPr>
              <a:t> po </a:t>
            </a:r>
            <a:r>
              <a:rPr sz="2600" dirty="0" err="1">
                <a:solidFill>
                  <a:srgbClr val="000000"/>
                </a:solidFill>
              </a:rPr>
              <a:t>dalybos</a:t>
            </a:r>
            <a:r>
              <a:rPr sz="2600" dirty="0">
                <a:solidFill>
                  <a:srgbClr val="000000"/>
                </a:solidFill>
              </a:rPr>
              <a:t>. </a:t>
            </a:r>
            <a:endParaRPr lang="lt-LT" sz="2600" dirty="0">
              <a:solidFill>
                <a:srgbClr val="000000"/>
              </a:solidFill>
            </a:endParaRPr>
          </a:p>
          <a:p>
            <a:r>
              <a:rPr sz="2600" dirty="0">
                <a:solidFill>
                  <a:srgbClr val="000000"/>
                </a:solidFill>
              </a:rPr>
              <a:t>Jei </a:t>
            </a:r>
            <a:r>
              <a:rPr sz="2600" dirty="0" err="1">
                <a:solidFill>
                  <a:srgbClr val="000000"/>
                </a:solidFill>
              </a:rPr>
              <a:t>liekana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dalinant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iš</a:t>
            </a:r>
            <a:r>
              <a:rPr sz="2600" dirty="0">
                <a:solidFill>
                  <a:srgbClr val="000000"/>
                </a:solidFill>
              </a:rPr>
              <a:t> 2 </a:t>
            </a:r>
            <a:r>
              <a:rPr sz="2600" dirty="0" err="1">
                <a:solidFill>
                  <a:srgbClr val="000000"/>
                </a:solidFill>
              </a:rPr>
              <a:t>yra</a:t>
            </a:r>
            <a:r>
              <a:rPr sz="2600" dirty="0">
                <a:solidFill>
                  <a:srgbClr val="000000"/>
                </a:solidFill>
              </a:rPr>
              <a:t> 0 – </a:t>
            </a:r>
            <a:r>
              <a:rPr sz="2600" dirty="0" err="1">
                <a:solidFill>
                  <a:srgbClr val="000000"/>
                </a:solidFill>
              </a:rPr>
              <a:t>skaičius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lyginis</a:t>
            </a:r>
            <a:r>
              <a:rPr sz="26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09872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number = int(input("Skaičius: "))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if number % 2 == 0: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print("Lyginis")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else: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print("Nelyginis")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Čia jau logika: reikšmė → sąlyga → sprendimas →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Dabar įrankis, nes vien kalbėt neužtenka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Kas yra mano mini LeetCode?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700" dirty="0">
                <a:solidFill>
                  <a:srgbClr val="000000"/>
                </a:solidFill>
              </a:rPr>
              <a:t>Tai </a:t>
            </a:r>
            <a:r>
              <a:rPr sz="2700" dirty="0" err="1">
                <a:solidFill>
                  <a:srgbClr val="000000"/>
                </a:solidFill>
              </a:rPr>
              <a:t>pratimų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sistema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 err="1">
                <a:solidFill>
                  <a:srgbClr val="000000"/>
                </a:solidFill>
              </a:rPr>
              <a:t>Kiekviena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užduotis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turi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aprašymą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ir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testus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 err="1">
                <a:solidFill>
                  <a:srgbClr val="000000"/>
                </a:solidFill>
              </a:rPr>
              <a:t>Jūs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rašot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sprendimą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>
                <a:solidFill>
                  <a:srgbClr val="000000"/>
                </a:solidFill>
              </a:rPr>
              <a:t>Sistema </a:t>
            </a:r>
            <a:r>
              <a:rPr sz="2700" dirty="0" err="1">
                <a:solidFill>
                  <a:srgbClr val="000000"/>
                </a:solidFill>
              </a:rPr>
              <a:t>patikrina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kelis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atvejus</a:t>
            </a:r>
            <a:endParaRPr sz="2700" dirty="0">
              <a:solidFill>
                <a:srgbClr val="000000"/>
              </a:solidFill>
            </a:endParaRPr>
          </a:p>
          <a:p>
            <a:r>
              <a:rPr sz="2700" dirty="0" err="1">
                <a:solidFill>
                  <a:srgbClr val="000000"/>
                </a:solidFill>
              </a:rPr>
              <a:t>Jeigu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nepraėjo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dirty="0" err="1">
                <a:solidFill>
                  <a:srgbClr val="000000"/>
                </a:solidFill>
              </a:rPr>
              <a:t>testų</a:t>
            </a:r>
            <a:r>
              <a:rPr sz="2700" dirty="0">
                <a:solidFill>
                  <a:srgbClr val="000000"/>
                </a:solidFill>
              </a:rPr>
              <a:t> – ne </a:t>
            </a:r>
            <a:r>
              <a:rPr sz="2700" dirty="0" err="1">
                <a:solidFill>
                  <a:srgbClr val="000000"/>
                </a:solidFill>
              </a:rPr>
              <a:t>tragedija</a:t>
            </a:r>
            <a:r>
              <a:rPr sz="2700" dirty="0">
                <a:solidFill>
                  <a:srgbClr val="000000"/>
                </a:solidFill>
              </a:rPr>
              <a:t>, </a:t>
            </a:r>
            <a:r>
              <a:rPr lang="en-US" sz="2700" dirty="0" err="1">
                <a:solidFill>
                  <a:srgbClr val="000000"/>
                </a:solidFill>
              </a:rPr>
              <a:t>bandymai</a:t>
            </a:r>
            <a:r>
              <a:rPr lang="en-US" sz="2700" dirty="0">
                <a:solidFill>
                  <a:srgbClr val="000000"/>
                </a:solidFill>
              </a:rPr>
              <a:t> </a:t>
            </a:r>
            <a:r>
              <a:rPr lang="en-US" sz="2700" dirty="0" err="1">
                <a:solidFill>
                  <a:srgbClr val="000000"/>
                </a:solidFill>
              </a:rPr>
              <a:t>neriboti</a:t>
            </a:r>
            <a:r>
              <a:rPr lang="en-US" sz="2700" dirty="0">
                <a:solidFill>
                  <a:srgbClr val="000000"/>
                </a:solidFill>
              </a:rPr>
              <a:t>, </a:t>
            </a:r>
            <a:r>
              <a:rPr lang="en-US" sz="2700" dirty="0" err="1">
                <a:solidFill>
                  <a:srgbClr val="000000"/>
                </a:solidFill>
              </a:rPr>
              <a:t>teorija</a:t>
            </a:r>
            <a:r>
              <a:rPr lang="en-US" sz="2700" dirty="0">
                <a:solidFill>
                  <a:srgbClr val="000000"/>
                </a:solidFill>
              </a:rPr>
              <a:t> be </a:t>
            </a:r>
            <a:r>
              <a:rPr lang="en-US" sz="2700" dirty="0" err="1">
                <a:solidFill>
                  <a:srgbClr val="000000"/>
                </a:solidFill>
              </a:rPr>
              <a:t>praktikos</a:t>
            </a:r>
            <a:r>
              <a:rPr lang="en-US" sz="2700" dirty="0">
                <a:solidFill>
                  <a:srgbClr val="000000"/>
                </a:solidFill>
              </a:rPr>
              <a:t> </a:t>
            </a:r>
            <a:r>
              <a:rPr lang="en-US" sz="2700" dirty="0" err="1">
                <a:solidFill>
                  <a:srgbClr val="000000"/>
                </a:solidFill>
              </a:rPr>
              <a:t>nenaudinga</a:t>
            </a:r>
            <a:r>
              <a:rPr lang="en-US" sz="2700" dirty="0">
                <a:solidFill>
                  <a:srgbClr val="000000"/>
                </a:solidFill>
              </a:rPr>
              <a:t>, tad bi</a:t>
            </a:r>
            <a:r>
              <a:rPr lang="lt-LT" sz="2700" dirty="0" err="1">
                <a:solidFill>
                  <a:srgbClr val="000000"/>
                </a:solidFill>
              </a:rPr>
              <a:t>ški</a:t>
            </a:r>
            <a:r>
              <a:rPr lang="lt-LT" sz="2700" dirty="0">
                <a:solidFill>
                  <a:srgbClr val="000000"/>
                </a:solidFill>
              </a:rPr>
              <a:t> </a:t>
            </a:r>
            <a:r>
              <a:rPr lang="lt-LT" sz="2700" dirty="0" err="1">
                <a:solidFill>
                  <a:srgbClr val="000000"/>
                </a:solidFill>
              </a:rPr>
              <a:t>parapstų</a:t>
            </a:r>
            <a:r>
              <a:rPr lang="lt-LT" sz="2700" dirty="0">
                <a:solidFill>
                  <a:srgbClr val="000000"/>
                </a:solidFill>
              </a:rPr>
              <a:t> užduotėlių. Jas po to papildysiu</a:t>
            </a:r>
            <a:endParaRPr sz="27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Kaip įrankis mąsto?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Jūs dažniausiai keisit tik funkciją run(). Visa kita kol kas yra juoda dėžė.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def run(number):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if number % 2 == 0: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    return True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else: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    return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Testai paduoda inputą į run(), o jūs grąžinat atsakymą su return.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Kaip spręsti užduotį įrankyje?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500">
                <a:solidFill>
                  <a:srgbClr val="000000"/>
                </a:solidFill>
              </a:rPr>
              <a:t>1. Perskaitai problemą test.py faile</a:t>
            </a:r>
          </a:p>
          <a:p>
            <a:r>
              <a:rPr sz="2500">
                <a:solidFill>
                  <a:srgbClr val="000000"/>
                </a:solidFill>
              </a:rPr>
              <a:t>2. Pažiūri pavyzdžius</a:t>
            </a:r>
          </a:p>
          <a:p>
            <a:r>
              <a:rPr sz="2500">
                <a:solidFill>
                  <a:srgbClr val="000000"/>
                </a:solidFill>
              </a:rPr>
              <a:t>3. Įsivaizduoji sprendimą be kodo</a:t>
            </a:r>
          </a:p>
          <a:p>
            <a:r>
              <a:rPr sz="2500">
                <a:solidFill>
                  <a:srgbClr val="000000"/>
                </a:solidFill>
              </a:rPr>
              <a:t>4. Parašai run() funkciją</a:t>
            </a:r>
          </a:p>
          <a:p>
            <a:r>
              <a:rPr sz="2500">
                <a:solidFill>
                  <a:srgbClr val="000000"/>
                </a:solidFill>
              </a:rPr>
              <a:t>5. Paleidi testus</a:t>
            </a:r>
          </a:p>
          <a:p>
            <a:r>
              <a:rPr sz="2500">
                <a:solidFill>
                  <a:srgbClr val="000000"/>
                </a:solidFill>
              </a:rPr>
              <a:t>6. Jei failina – skaitai ką gavai ir ką tikėjaisi gauti</a:t>
            </a:r>
          </a:p>
          <a:p>
            <a:r>
              <a:rPr sz="2500">
                <a:solidFill>
                  <a:srgbClr val="000000"/>
                </a:solidFill>
              </a:rPr>
              <a:t>7. Neverki. Arba verki, bet produktyviai.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Svarbus dalykas: print() !=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 dirty="0">
                <a:solidFill>
                  <a:srgbClr val="000000"/>
                </a:solidFill>
              </a:rPr>
              <a:t>print() tik </a:t>
            </a:r>
            <a:r>
              <a:rPr sz="2600" dirty="0" err="1">
                <a:solidFill>
                  <a:srgbClr val="000000"/>
                </a:solidFill>
              </a:rPr>
              <a:t>parodo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žmogui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tekstą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ekrane</a:t>
            </a:r>
            <a:endParaRPr sz="2600" dirty="0">
              <a:solidFill>
                <a:srgbClr val="000000"/>
              </a:solidFill>
            </a:endParaRPr>
          </a:p>
          <a:p>
            <a:r>
              <a:rPr sz="2600" dirty="0">
                <a:solidFill>
                  <a:srgbClr val="000000"/>
                </a:solidFill>
              </a:rPr>
              <a:t>return </a:t>
            </a:r>
            <a:r>
              <a:rPr sz="2600" dirty="0" err="1">
                <a:solidFill>
                  <a:srgbClr val="000000"/>
                </a:solidFill>
              </a:rPr>
              <a:t>grąžina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reikšmę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programai</a:t>
            </a:r>
            <a:r>
              <a:rPr sz="2600" dirty="0">
                <a:solidFill>
                  <a:srgbClr val="000000"/>
                </a:solidFill>
              </a:rPr>
              <a:t> / </a:t>
            </a:r>
            <a:r>
              <a:rPr sz="2600" dirty="0" err="1">
                <a:solidFill>
                  <a:srgbClr val="000000"/>
                </a:solidFill>
              </a:rPr>
              <a:t>testams</a:t>
            </a:r>
            <a:endParaRPr sz="2600" dirty="0">
              <a:solidFill>
                <a:srgbClr val="000000"/>
              </a:solidFill>
            </a:endParaRPr>
          </a:p>
          <a:p>
            <a:r>
              <a:rPr sz="2600" dirty="0" err="1">
                <a:solidFill>
                  <a:srgbClr val="000000"/>
                </a:solidFill>
              </a:rPr>
              <a:t>Įrankiui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dažniausiai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reikia</a:t>
            </a:r>
            <a:r>
              <a:rPr sz="2600" dirty="0">
                <a:solidFill>
                  <a:srgbClr val="000000"/>
                </a:solidFill>
              </a:rPr>
              <a:t> return</a:t>
            </a:r>
          </a:p>
          <a:p>
            <a:endParaRPr sz="2600" dirty="0">
              <a:solidFill>
                <a:srgbClr val="000000"/>
              </a:solidFill>
            </a:endParaRPr>
          </a:p>
          <a:p>
            <a:r>
              <a:rPr sz="2600" dirty="0" err="1">
                <a:solidFill>
                  <a:srgbClr val="000000"/>
                </a:solidFill>
              </a:rPr>
              <a:t>Jeigu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printini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atsakymą</a:t>
            </a:r>
            <a:r>
              <a:rPr sz="2600" dirty="0">
                <a:solidFill>
                  <a:srgbClr val="000000"/>
                </a:solidFill>
              </a:rPr>
              <a:t>, </a:t>
            </a:r>
            <a:r>
              <a:rPr sz="2600" dirty="0" err="1">
                <a:solidFill>
                  <a:srgbClr val="000000"/>
                </a:solidFill>
              </a:rPr>
              <a:t>tu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gali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matyti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teisingą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dalyką</a:t>
            </a:r>
            <a:r>
              <a:rPr sz="2600" dirty="0">
                <a:solidFill>
                  <a:srgbClr val="000000"/>
                </a:solidFill>
              </a:rPr>
              <a:t>, bet </a:t>
            </a:r>
            <a:r>
              <a:rPr sz="2600" dirty="0" err="1">
                <a:solidFill>
                  <a:srgbClr val="000000"/>
                </a:solidFill>
              </a:rPr>
              <a:t>testas</a:t>
            </a:r>
            <a:r>
              <a:rPr sz="2600" dirty="0">
                <a:solidFill>
                  <a:srgbClr val="000000"/>
                </a:solidFill>
              </a:rPr>
              <a:t> vis </a:t>
            </a:r>
            <a:r>
              <a:rPr sz="2600" dirty="0" err="1">
                <a:solidFill>
                  <a:srgbClr val="000000"/>
                </a:solidFill>
              </a:rPr>
              <a:t>tiek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sakys</a:t>
            </a:r>
            <a:r>
              <a:rPr sz="2600" dirty="0">
                <a:solidFill>
                  <a:srgbClr val="000000"/>
                </a:solidFill>
              </a:rPr>
              <a:t>, </a:t>
            </a:r>
            <a:r>
              <a:rPr sz="2600" dirty="0" err="1">
                <a:solidFill>
                  <a:srgbClr val="000000"/>
                </a:solidFill>
              </a:rPr>
              <a:t>kad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nieko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negavo</a:t>
            </a:r>
            <a:r>
              <a:rPr sz="2600" dirty="0">
                <a:solidFill>
                  <a:srgbClr val="000000"/>
                </a:solidFill>
              </a:rPr>
              <a:t>. </a:t>
            </a:r>
            <a:r>
              <a:rPr sz="2600" dirty="0" err="1">
                <a:solidFill>
                  <a:srgbClr val="000000"/>
                </a:solidFill>
              </a:rPr>
              <a:t>Kompiuteris</a:t>
            </a:r>
            <a:r>
              <a:rPr sz="2600" dirty="0">
                <a:solidFill>
                  <a:srgbClr val="000000"/>
                </a:solidFill>
              </a:rPr>
              <a:t> petty</a:t>
            </a:r>
            <a:r>
              <a:rPr lang="lt-LT" sz="2600" dirty="0">
                <a:solidFill>
                  <a:srgbClr val="000000"/>
                </a:solidFill>
              </a:rPr>
              <a:t> ir </a:t>
            </a:r>
            <a:r>
              <a:rPr lang="lt-LT" sz="2600" dirty="0" err="1">
                <a:solidFill>
                  <a:srgbClr val="000000"/>
                </a:solidFill>
              </a:rPr>
              <a:t>biški</a:t>
            </a:r>
            <a:r>
              <a:rPr lang="lt-LT" sz="2600" dirty="0">
                <a:solidFill>
                  <a:srgbClr val="000000"/>
                </a:solidFill>
              </a:rPr>
              <a:t> </a:t>
            </a:r>
            <a:r>
              <a:rPr lang="lt-LT" sz="2600" dirty="0" err="1">
                <a:solidFill>
                  <a:srgbClr val="000000"/>
                </a:solidFill>
              </a:rPr>
              <a:t>speciukas</a:t>
            </a:r>
            <a:r>
              <a:rPr lang="lt-LT" sz="2600" dirty="0">
                <a:solidFill>
                  <a:srgbClr val="000000"/>
                </a:solidFill>
              </a:rPr>
              <a:t>, tai su juo kartais ir reikia kaip su manim kalbėti</a:t>
            </a:r>
            <a:r>
              <a:rPr sz="26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Praktika 2.1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Problem 03 – Celsius to Fahrenheit</a:t>
            </a:r>
          </a:p>
          <a:p>
            <a:r>
              <a:rPr sz="2600">
                <a:solidFill>
                  <a:srgbClr val="000000"/>
                </a:solidFill>
              </a:rPr>
              <a:t>Problem 04 – String to Number</a:t>
            </a:r>
          </a:p>
          <a:p>
            <a:r>
              <a:rPr sz="2600">
                <a:solidFill>
                  <a:srgbClr val="000000"/>
                </a:solidFill>
              </a:rPr>
              <a:t>Problem 05 – Full Name Builder</a:t>
            </a:r>
          </a:p>
          <a:p>
            <a:r>
              <a:rPr sz="2600">
                <a:solidFill>
                  <a:srgbClr val="000000"/>
                </a:solidFill>
              </a:rPr>
              <a:t>Problem 06 – Even or Odd</a:t>
            </a:r>
          </a:p>
          <a:p>
            <a:endParaRPr sz="2600">
              <a:solidFill>
                <a:srgbClr val="000000"/>
              </a:solidFill>
            </a:endParaRPr>
          </a:p>
          <a:p>
            <a:r>
              <a:rPr sz="2600">
                <a:solidFill>
                  <a:srgbClr val="000000"/>
                </a:solidFill>
              </a:rPr>
              <a:t>Tikslas: tipai, konvertavimas, stringai ir pirmi ifai.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Praktika 2.2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Problem 07 – Compare Two Numbers</a:t>
            </a:r>
          </a:p>
          <a:p>
            <a:r>
              <a:rPr sz="2600">
                <a:solidFill>
                  <a:srgbClr val="000000"/>
                </a:solidFill>
              </a:rPr>
              <a:t>Problem 08 – Leap Year</a:t>
            </a:r>
          </a:p>
          <a:p>
            <a:r>
              <a:rPr sz="2600">
                <a:solidFill>
                  <a:srgbClr val="000000"/>
                </a:solidFill>
              </a:rPr>
              <a:t>Problem 09 – Grade Classifier</a:t>
            </a:r>
          </a:p>
          <a:p>
            <a:r>
              <a:rPr sz="2600">
                <a:solidFill>
                  <a:srgbClr val="000000"/>
                </a:solidFill>
              </a:rPr>
              <a:t>Problem 10 – FizzBuzz vienam skaičiui</a:t>
            </a:r>
          </a:p>
          <a:p>
            <a:endParaRPr sz="2600">
              <a:solidFill>
                <a:srgbClr val="000000"/>
              </a:solidFill>
            </a:endParaRPr>
          </a:p>
          <a:p>
            <a:r>
              <a:rPr sz="2600">
                <a:solidFill>
                  <a:srgbClr val="000000"/>
                </a:solidFill>
              </a:rPr>
              <a:t>Jeigu šitie pradeda skaudėti, vadinasi pradeda veikti smegenys.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Lyginam sprendimus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Ar sprendimas teisingas?</a:t>
            </a:r>
          </a:p>
          <a:p>
            <a:r>
              <a:rPr sz="2600">
                <a:solidFill>
                  <a:srgbClr val="000000"/>
                </a:solidFill>
              </a:rPr>
              <a:t>Ar lengva suprasti?</a:t>
            </a:r>
          </a:p>
          <a:p>
            <a:r>
              <a:rPr sz="2600">
                <a:solidFill>
                  <a:srgbClr val="000000"/>
                </a:solidFill>
              </a:rPr>
              <a:t>Ar yra nereikalingo kodo?</a:t>
            </a:r>
          </a:p>
          <a:p>
            <a:r>
              <a:rPr sz="2600">
                <a:solidFill>
                  <a:srgbClr val="000000"/>
                </a:solidFill>
              </a:rPr>
              <a:t>Ar veikia su 0, neigiamais skaičiais ir kitais šlykščiais atvejais?</a:t>
            </a:r>
          </a:p>
          <a:p>
            <a:r>
              <a:rPr sz="2600">
                <a:solidFill>
                  <a:srgbClr val="000000"/>
                </a:solidFill>
              </a:rPr>
              <a:t>Ar gudrus sprendimas tikrai geresnis, ar tiesiog bando atrodyti protingas?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Pamokos 2 santrauka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IDE yra įrankis, ne magija</a:t>
            </a:r>
          </a:p>
          <a:p>
            <a:r>
              <a:rPr sz="2600">
                <a:solidFill>
                  <a:srgbClr val="000000"/>
                </a:solidFill>
              </a:rPr>
              <a:t>input() grąžina tekstą</a:t>
            </a:r>
          </a:p>
          <a:p>
            <a:r>
              <a:rPr sz="2600">
                <a:solidFill>
                  <a:srgbClr val="000000"/>
                </a:solidFill>
              </a:rPr>
              <a:t>int() ir float() paverčia tekstą į skaičius</a:t>
            </a:r>
          </a:p>
          <a:p>
            <a:r>
              <a:rPr sz="2600">
                <a:solidFill>
                  <a:srgbClr val="000000"/>
                </a:solidFill>
              </a:rPr>
              <a:t>Palyginimai pagamina True / False</a:t>
            </a:r>
          </a:p>
          <a:p>
            <a:r>
              <a:rPr sz="2600">
                <a:solidFill>
                  <a:srgbClr val="000000"/>
                </a:solidFill>
              </a:rPr>
              <a:t>if / elif / else leidžia programai rinktis</a:t>
            </a:r>
          </a:p>
          <a:p>
            <a:r>
              <a:rPr sz="2600">
                <a:solidFill>
                  <a:srgbClr val="000000"/>
                </a:solidFill>
              </a:rPr>
              <a:t>run() + return yra mūsų pratimų įrankio širdis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dirty="0" err="1"/>
              <a:t>Pamoka</a:t>
            </a:r>
            <a:r>
              <a:rPr dirty="0"/>
              <a:t> 3: </a:t>
            </a:r>
            <a:r>
              <a:rPr dirty="0" err="1"/>
              <a:t>loopai</a:t>
            </a:r>
            <a:r>
              <a:rPr dirty="0"/>
              <a:t>, </a:t>
            </a:r>
            <a:r>
              <a:rPr dirty="0" err="1"/>
              <a:t>funkcijos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mažiau</a:t>
            </a:r>
            <a:r>
              <a:rPr dirty="0"/>
              <a:t> copy-paste </a:t>
            </a:r>
            <a:r>
              <a:rPr dirty="0" err="1"/>
              <a:t>kančios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Toliau </a:t>
            </a:r>
            <a:r>
              <a:rPr lang="lt-LT" dirty="0" err="1"/>
              <a:t>Yapinsim</a:t>
            </a:r>
            <a:r>
              <a:rPr lang="lt-LT" dirty="0"/>
              <a:t> apie</a:t>
            </a:r>
            <a:r>
              <a:rPr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700">
                <a:solidFill>
                  <a:srgbClr val="000000"/>
                </a:solidFill>
              </a:rPr>
              <a:t>Kodėl kartojimas yra visas kompiuterio pointas</a:t>
            </a:r>
          </a:p>
          <a:p>
            <a:r>
              <a:rPr sz="2700">
                <a:solidFill>
                  <a:srgbClr val="000000"/>
                </a:solidFill>
              </a:rPr>
              <a:t>while loopus</a:t>
            </a:r>
          </a:p>
          <a:p>
            <a:r>
              <a:rPr sz="2700">
                <a:solidFill>
                  <a:srgbClr val="000000"/>
                </a:solidFill>
              </a:rPr>
              <a:t>for loopus ir range()</a:t>
            </a:r>
          </a:p>
          <a:p>
            <a:r>
              <a:rPr sz="2700">
                <a:solidFill>
                  <a:srgbClr val="000000"/>
                </a:solidFill>
              </a:rPr>
              <a:t>Skaitiklius ir akumuliatorius</a:t>
            </a:r>
          </a:p>
          <a:p>
            <a:r>
              <a:rPr sz="2700">
                <a:solidFill>
                  <a:srgbClr val="000000"/>
                </a:solidFill>
              </a:rPr>
              <a:t>Loop + if kombinaciją</a:t>
            </a:r>
          </a:p>
          <a:p>
            <a:r>
              <a:rPr sz="2700">
                <a:solidFill>
                  <a:srgbClr val="000000"/>
                </a:solidFill>
              </a:rPr>
              <a:t>Funkcijas, parametrus ir return</a:t>
            </a:r>
          </a:p>
          <a:p>
            <a:r>
              <a:rPr sz="2700">
                <a:solidFill>
                  <a:srgbClr val="000000"/>
                </a:solidFill>
              </a:rPr>
              <a:t>Kaip spręsti užduotis mažais gabaliukais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Kodėl loopai egzistuoja?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700">
                <a:solidFill>
                  <a:srgbClr val="000000"/>
                </a:solidFill>
              </a:rPr>
              <a:t>Kompiuteris labai blogas kūryboje, bet labai geras daryti tą patį milijoną kartų</a:t>
            </a:r>
          </a:p>
          <a:p>
            <a:r>
              <a:rPr sz="2700">
                <a:solidFill>
                  <a:srgbClr val="000000"/>
                </a:solidFill>
              </a:rPr>
              <a:t>Jeigu pagauni save kopijuojant tą pačią eilutę 10 kartų – greičiausiai nori loopo</a:t>
            </a:r>
          </a:p>
          <a:p>
            <a:r>
              <a:rPr sz="2700">
                <a:solidFill>
                  <a:srgbClr val="000000"/>
                </a:solidFill>
              </a:rPr>
              <a:t>Loopas = sakom programai kartoti veiksmą kol sąlygos leidžia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while kartoja kodą tol, kol sąlyga yra True.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count = 1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while count &lt;= 5: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print(count)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count = count + 1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print("Baigėm")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Svarbiausia: kažkas loopo viduje turi keistis, kitaip summonsinam begalinį loopą.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Begaliniai loopai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08562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dirty="0" err="1">
                <a:solidFill>
                  <a:srgbClr val="000000"/>
                </a:solidFill>
              </a:rPr>
              <a:t>Jeigu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sąlyga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niekada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netampa</a:t>
            </a:r>
            <a:r>
              <a:rPr sz="2600" dirty="0">
                <a:solidFill>
                  <a:srgbClr val="000000"/>
                </a:solidFill>
              </a:rPr>
              <a:t> False, </a:t>
            </a:r>
            <a:r>
              <a:rPr sz="2600" dirty="0" err="1">
                <a:solidFill>
                  <a:srgbClr val="000000"/>
                </a:solidFill>
              </a:rPr>
              <a:t>programa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kartos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amžinai</a:t>
            </a:r>
            <a:r>
              <a:rPr sz="2600" dirty="0">
                <a:solidFill>
                  <a:srgbClr val="000000"/>
                </a:solidFill>
              </a:rPr>
              <a:t>.</a:t>
            </a:r>
            <a:endParaRPr lang="lt-LT" sz="2600" dirty="0">
              <a:solidFill>
                <a:srgbClr val="000000"/>
              </a:solidFill>
            </a:endParaRPr>
          </a:p>
          <a:p>
            <a:r>
              <a:rPr sz="2600" dirty="0" err="1">
                <a:solidFill>
                  <a:srgbClr val="000000"/>
                </a:solidFill>
              </a:rPr>
              <a:t>Romantiška</a:t>
            </a:r>
            <a:r>
              <a:rPr sz="2600" dirty="0">
                <a:solidFill>
                  <a:srgbClr val="000000"/>
                </a:solidFill>
              </a:rPr>
              <a:t>, bet </a:t>
            </a:r>
            <a:r>
              <a:rPr sz="2600" dirty="0" err="1">
                <a:solidFill>
                  <a:srgbClr val="000000"/>
                </a:solidFill>
              </a:rPr>
              <a:t>blogai</a:t>
            </a:r>
            <a:r>
              <a:rPr sz="26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97936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count = 1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while count &lt;= 5: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print(count)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# count nepasikeičia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# kompiuteris dabar įstrigo gyvenime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34841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>
                <a:solidFill>
                  <a:srgbClr val="000000"/>
                </a:solidFill>
              </a:rPr>
              <a:t>Jeigu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taip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nutiko</a:t>
            </a:r>
            <a:r>
              <a:rPr sz="2400" dirty="0">
                <a:solidFill>
                  <a:srgbClr val="000000"/>
                </a:solidFill>
              </a:rPr>
              <a:t>: Ctrl + C </a:t>
            </a:r>
            <a:r>
              <a:rPr sz="2400" dirty="0" err="1">
                <a:solidFill>
                  <a:srgbClr val="000000"/>
                </a:solidFill>
              </a:rPr>
              <a:t>terminale</a:t>
            </a:r>
            <a:r>
              <a:rPr sz="2400" dirty="0">
                <a:solidFill>
                  <a:srgbClr val="000000"/>
                </a:solidFill>
              </a:rPr>
              <a:t>. </a:t>
            </a:r>
            <a:r>
              <a:rPr lang="lt-LT" sz="2400" dirty="0">
                <a:solidFill>
                  <a:srgbClr val="000000"/>
                </a:solidFill>
              </a:rPr>
              <a:t>Priprasit ateity nuolatos šitą naudoti, nes</a:t>
            </a:r>
          </a:p>
          <a:p>
            <a:r>
              <a:rPr lang="lt-LT" sz="2400" dirty="0" err="1">
                <a:solidFill>
                  <a:srgbClr val="000000"/>
                </a:solidFill>
              </a:rPr>
              <a:t>Exit</a:t>
            </a:r>
            <a:r>
              <a:rPr lang="lt-LT" sz="2400" dirty="0">
                <a:solidFill>
                  <a:srgbClr val="000000"/>
                </a:solidFill>
              </a:rPr>
              <a:t> </a:t>
            </a:r>
            <a:r>
              <a:rPr lang="lt-LT" sz="2400" dirty="0" err="1">
                <a:solidFill>
                  <a:srgbClr val="000000"/>
                </a:solidFill>
              </a:rPr>
              <a:t>contidions</a:t>
            </a:r>
            <a:r>
              <a:rPr lang="lt-LT" sz="2400" dirty="0">
                <a:solidFill>
                  <a:srgbClr val="000000"/>
                </a:solidFill>
              </a:rPr>
              <a:t> tipiškai nepasimoka rašyti pradžioje, </a:t>
            </a:r>
            <a:r>
              <a:rPr lang="lt-LT" sz="2400" dirty="0" err="1">
                <a:solidFill>
                  <a:srgbClr val="000000"/>
                </a:solidFill>
              </a:rPr>
              <a:t>nebet</a:t>
            </a:r>
            <a:r>
              <a:rPr lang="lt-LT" sz="2400" dirty="0">
                <a:solidFill>
                  <a:srgbClr val="000000"/>
                </a:solidFill>
              </a:rPr>
              <a:t> kuri programą, kuri</a:t>
            </a:r>
          </a:p>
          <a:p>
            <a:r>
              <a:rPr lang="lt-LT" sz="2400" dirty="0">
                <a:solidFill>
                  <a:srgbClr val="000000"/>
                </a:solidFill>
              </a:rPr>
              <a:t>Atidaro savo langą. </a:t>
            </a:r>
            <a:endParaRPr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loopas ir range()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for patogus, kai žinom per ką norim pereiti.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for i in range(5):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print(i)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for number in range(1, 6):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print(number)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125923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000000"/>
                </a:solidFill>
              </a:rPr>
              <a:t>range(5) </a:t>
            </a:r>
            <a:r>
              <a:rPr sz="2400" dirty="0" err="1">
                <a:solidFill>
                  <a:srgbClr val="000000"/>
                </a:solidFill>
              </a:rPr>
              <a:t>duoda</a:t>
            </a:r>
            <a:r>
              <a:rPr sz="2400" dirty="0">
                <a:solidFill>
                  <a:srgbClr val="000000"/>
                </a:solidFill>
              </a:rPr>
              <a:t> 0,1,2,3,4. </a:t>
            </a:r>
            <a:r>
              <a:rPr sz="2400" dirty="0" err="1">
                <a:solidFill>
                  <a:srgbClr val="000000"/>
                </a:solidFill>
              </a:rPr>
              <a:t>Pythonas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skaičiuoja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nuo</a:t>
            </a:r>
            <a:r>
              <a:rPr sz="2400" dirty="0">
                <a:solidFill>
                  <a:srgbClr val="000000"/>
                </a:solidFill>
              </a:rPr>
              <a:t> 0, </a:t>
            </a:r>
            <a:r>
              <a:rPr sz="2400" dirty="0" err="1">
                <a:solidFill>
                  <a:srgbClr val="000000"/>
                </a:solidFill>
              </a:rPr>
              <a:t>nes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kažkas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kažkada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nusprendė</a:t>
            </a:r>
            <a:endParaRPr lang="lt-LT" sz="2400" dirty="0">
              <a:solidFill>
                <a:srgbClr val="000000"/>
              </a:solidFill>
            </a:endParaRPr>
          </a:p>
          <a:p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mus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bausti</a:t>
            </a:r>
            <a:r>
              <a:rPr sz="24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Skaitiklis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Skaitiklis atsako į klausimą: kiek kartų kažkas įvyko?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 dirty="0">
                <a:solidFill>
                  <a:srgbClr val="000000"/>
                </a:solidFill>
                <a:latin typeface="Consolas"/>
              </a:rPr>
              <a:t>count = 0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for number in range(1, 11):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if number % 2 == 0: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    count = count + 1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print(count)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State keičiasi kiekvieną kartą, kai randam tai ko ieškom.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Akumuliatorius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Akumuliatorius kaupia rezultatą po truputį.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total = 0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for number in range(1, 6):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total = total + number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print(total)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Labai dažnas patternas: pradedi nuo 0, tada kiekvienu žingsniu pridedi.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+ if kartu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Daug realių problemų yra: pereik per daug dalykų ir kažką daryk tik su kai kuriais.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 dirty="0">
                <a:solidFill>
                  <a:srgbClr val="000000"/>
                </a:solidFill>
                <a:latin typeface="Consolas"/>
              </a:rPr>
              <a:t>numbers = [1, 2, 3, 4, 5, 6]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count = 0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for number in numbers: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if number % 2 == 0: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    count = count + 1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print(count)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Čia atsiranda pirmas tikras programavimo jausmas: data + taisyklės + kartojimas.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Jeigu kodas kartojasi...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800">
                <a:solidFill>
                  <a:srgbClr val="000000"/>
                </a:solidFill>
              </a:rPr>
              <a:t>...čia jau kvapas. Kartais normalus, kartais lavono.</a:t>
            </a:r>
          </a:p>
          <a:p>
            <a:r>
              <a:rPr sz="2800">
                <a:solidFill>
                  <a:srgbClr val="000000"/>
                </a:solidFill>
              </a:rPr>
              <a:t>Jeigu tas pats veiksmas reikalingas keliose vietose, norim funkcijos</a:t>
            </a:r>
          </a:p>
          <a:p>
            <a:r>
              <a:rPr sz="2800">
                <a:solidFill>
                  <a:srgbClr val="000000"/>
                </a:solidFill>
              </a:rPr>
              <a:t>Funkcija leidžia pavadinti logikos gabalą</a:t>
            </a:r>
          </a:p>
          <a:p>
            <a:r>
              <a:rPr sz="2800">
                <a:solidFill>
                  <a:srgbClr val="000000"/>
                </a:solidFill>
              </a:rPr>
              <a:t>Pavadintas logikos gabalas = mažiau chaoso galvoje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Funkcijos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Funkcija yra pavadintas instrukcijų rinkinys, kurį galim panaudoti daug kartų.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 dirty="0">
                <a:solidFill>
                  <a:srgbClr val="000000"/>
                </a:solidFill>
                <a:latin typeface="Consolas"/>
              </a:rPr>
              <a:t>def greet(name):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    return "Labas, " + name</a:t>
            </a:r>
            <a:br>
              <a:rPr dirty="0"/>
            </a:b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message = greet("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Lavrinovi</a:t>
            </a:r>
            <a:r>
              <a:rPr lang="lt-LT" sz="1800" dirty="0" err="1">
                <a:solidFill>
                  <a:srgbClr val="000000"/>
                </a:solidFill>
                <a:latin typeface="Consolas"/>
              </a:rPr>
              <a:t>čius</a:t>
            </a:r>
            <a:r>
              <a:rPr sz="1800" dirty="0">
                <a:solidFill>
                  <a:srgbClr val="000000"/>
                </a:solidFill>
                <a:latin typeface="Consolas"/>
              </a:rPr>
              <a:t>")</a:t>
            </a:r>
            <a:br>
              <a:rPr dirty="0"/>
            </a:br>
            <a:r>
              <a:rPr sz="1800" dirty="0">
                <a:solidFill>
                  <a:srgbClr val="000000"/>
                </a:solidFill>
                <a:latin typeface="Consolas"/>
              </a:rPr>
              <a:t>print(message)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def sukuria funkciją. return grąžina rezultatą.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Parametrai yra informacija, kurią paduodam funkcijai.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def add(a, b):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return a + b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result = add(3, 5)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print(result)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a ir b nėra magiški vardai. Tai tiesiog lokalūs kintamieji funkcijos viduje.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print() vs return dar kartą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print() kalba su žmogumi. return kalba su programa.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def bad_add(a, b):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print(a + b)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def good_add(a, b):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return a + b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answer = good_add(2,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109977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>
                <a:solidFill>
                  <a:srgbClr val="000000"/>
                </a:solidFill>
              </a:rPr>
              <a:t>Mūsų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testavimo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įrankis</a:t>
            </a:r>
            <a:r>
              <a:rPr sz="2400" dirty="0">
                <a:solidFill>
                  <a:srgbClr val="000000"/>
                </a:solidFill>
              </a:rPr>
              <a:t> nori return. </a:t>
            </a:r>
            <a:r>
              <a:rPr lang="lt-LT" sz="2400" dirty="0" err="1">
                <a:solidFill>
                  <a:srgbClr val="000000"/>
                </a:solidFill>
              </a:rPr>
              <a:t>print</a:t>
            </a:r>
            <a:r>
              <a:rPr lang="lt-LT" sz="2400" dirty="0">
                <a:solidFill>
                  <a:srgbClr val="000000"/>
                </a:solidFill>
              </a:rPr>
              <a:t>() skirtas, kad </a:t>
            </a:r>
            <a:r>
              <a:rPr lang="lt-LT" sz="2400" dirty="0" err="1">
                <a:solidFill>
                  <a:srgbClr val="000000"/>
                </a:solidFill>
              </a:rPr>
              <a:t>atsakyma</a:t>
            </a:r>
            <a:r>
              <a:rPr lang="lt-LT" sz="2400" dirty="0">
                <a:solidFill>
                  <a:srgbClr val="000000"/>
                </a:solidFill>
              </a:rPr>
              <a:t> matytum tu, </a:t>
            </a:r>
            <a:r>
              <a:rPr lang="lt-LT" sz="2400" dirty="0" err="1">
                <a:solidFill>
                  <a:srgbClr val="000000"/>
                </a:solidFill>
              </a:rPr>
              <a:t>return</a:t>
            </a:r>
            <a:endParaRPr lang="lt-LT" sz="2400" dirty="0">
              <a:solidFill>
                <a:srgbClr val="000000"/>
              </a:solidFill>
            </a:endParaRPr>
          </a:p>
          <a:p>
            <a:r>
              <a:rPr lang="lt-LT" sz="2400" dirty="0">
                <a:solidFill>
                  <a:srgbClr val="000000"/>
                </a:solidFill>
              </a:rPr>
              <a:t>Skirtas, kad atsakymą matytu programa. Tai nemaišykit.</a:t>
            </a:r>
            <a:endParaRPr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Kodėl įrankyje visur run()?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Kad testavimo sistema žinotų kurią funkciją kviesti.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def run(number):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if number % 2 == 0: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    return True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return False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# Testai daro maždaug taip: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# result = run(input)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21504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000000"/>
                </a:solidFill>
              </a:rPr>
              <a:t>run() </a:t>
            </a:r>
            <a:r>
              <a:rPr sz="2400" dirty="0" err="1">
                <a:solidFill>
                  <a:srgbClr val="000000"/>
                </a:solidFill>
              </a:rPr>
              <a:t>yra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sutartis</a:t>
            </a:r>
            <a:r>
              <a:rPr sz="2400" dirty="0">
                <a:solidFill>
                  <a:srgbClr val="000000"/>
                </a:solidFill>
              </a:rPr>
              <a:t> tarp </a:t>
            </a:r>
            <a:r>
              <a:rPr sz="2400" dirty="0" err="1">
                <a:solidFill>
                  <a:srgbClr val="000000"/>
                </a:solidFill>
              </a:rPr>
              <a:t>jūsų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ir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įrankio</a:t>
            </a:r>
            <a:r>
              <a:rPr sz="2400" dirty="0">
                <a:solidFill>
                  <a:srgbClr val="000000"/>
                </a:solidFill>
              </a:rPr>
              <a:t>. </a:t>
            </a:r>
            <a:r>
              <a:rPr sz="2400" dirty="0" err="1">
                <a:solidFill>
                  <a:srgbClr val="000000"/>
                </a:solidFill>
              </a:rPr>
              <a:t>Sulaužai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sutartį</a:t>
            </a:r>
            <a:r>
              <a:rPr sz="2400" dirty="0">
                <a:solidFill>
                  <a:srgbClr val="000000"/>
                </a:solidFill>
              </a:rPr>
              <a:t> – </a:t>
            </a:r>
            <a:r>
              <a:rPr sz="2400" dirty="0" err="1">
                <a:solidFill>
                  <a:srgbClr val="000000"/>
                </a:solidFill>
              </a:rPr>
              <a:t>testai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pyksta</a:t>
            </a:r>
            <a:r>
              <a:rPr sz="2400" dirty="0">
                <a:solidFill>
                  <a:srgbClr val="000000"/>
                </a:solidFill>
              </a:rPr>
              <a:t>.</a:t>
            </a:r>
            <a:endParaRPr lang="lt-LT" sz="2400" dirty="0">
              <a:solidFill>
                <a:srgbClr val="000000"/>
              </a:solidFill>
            </a:endParaRPr>
          </a:p>
          <a:p>
            <a:r>
              <a:rPr lang="lt-LT" sz="2400" dirty="0">
                <a:solidFill>
                  <a:srgbClr val="000000"/>
                </a:solidFill>
              </a:rPr>
              <a:t>Jei ką galite kopijuoti </a:t>
            </a:r>
            <a:r>
              <a:rPr lang="lt-LT" sz="2400" dirty="0" err="1">
                <a:solidFill>
                  <a:srgbClr val="000000"/>
                </a:solidFill>
              </a:rPr>
              <a:t>run</a:t>
            </a:r>
            <a:r>
              <a:rPr lang="lt-LT" sz="2400" dirty="0">
                <a:solidFill>
                  <a:srgbClr val="000000"/>
                </a:solidFill>
              </a:rPr>
              <a:t> funkciją iš </a:t>
            </a:r>
            <a:r>
              <a:rPr lang="lt-LT" sz="2400" dirty="0" err="1">
                <a:solidFill>
                  <a:srgbClr val="000000"/>
                </a:solidFill>
              </a:rPr>
              <a:t>Template</a:t>
            </a:r>
            <a:r>
              <a:rPr lang="lt-LT" sz="2400" dirty="0">
                <a:solidFill>
                  <a:srgbClr val="000000"/>
                </a:solidFill>
              </a:rPr>
              <a:t> failo, jei labai </a:t>
            </a:r>
            <a:r>
              <a:rPr lang="lt-LT" sz="2400" dirty="0" err="1">
                <a:solidFill>
                  <a:srgbClr val="000000"/>
                </a:solidFill>
              </a:rPr>
              <a:t>supisat</a:t>
            </a:r>
            <a:r>
              <a:rPr lang="lt-LT" sz="2400" dirty="0">
                <a:solidFill>
                  <a:srgbClr val="000000"/>
                </a:solidFill>
              </a:rPr>
              <a:t> arba </a:t>
            </a:r>
            <a:r>
              <a:rPr lang="lt-LT" sz="2400" dirty="0" err="1">
                <a:solidFill>
                  <a:srgbClr val="000000"/>
                </a:solidFill>
              </a:rPr>
              <a:t>glait</a:t>
            </a:r>
            <a:endParaRPr lang="lt-LT" sz="2400" dirty="0">
              <a:solidFill>
                <a:srgbClr val="000000"/>
              </a:solidFill>
            </a:endParaRPr>
          </a:p>
          <a:p>
            <a:r>
              <a:rPr lang="lt-LT" sz="2400" dirty="0">
                <a:solidFill>
                  <a:srgbClr val="000000"/>
                </a:solidFill>
              </a:rPr>
              <a:t>iš </a:t>
            </a:r>
            <a:r>
              <a:rPr lang="lt-LT" sz="2400" dirty="0" err="1">
                <a:solidFill>
                  <a:srgbClr val="000000"/>
                </a:solidFill>
              </a:rPr>
              <a:t>Github</a:t>
            </a:r>
            <a:r>
              <a:rPr lang="lt-LT" sz="2400" dirty="0">
                <a:solidFill>
                  <a:srgbClr val="000000"/>
                </a:solidFill>
              </a:rPr>
              <a:t> vėl </a:t>
            </a:r>
            <a:r>
              <a:rPr lang="lt-LT" sz="2400" dirty="0" err="1">
                <a:solidFill>
                  <a:srgbClr val="000000"/>
                </a:solidFill>
              </a:rPr>
              <a:t>pullinti</a:t>
            </a:r>
            <a:r>
              <a:rPr lang="lt-LT" sz="2400" dirty="0">
                <a:solidFill>
                  <a:srgbClr val="000000"/>
                </a:solidFill>
              </a:rPr>
              <a:t>.</a:t>
            </a:r>
            <a:endParaRPr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Dekompozicija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Didelę problemą pjaustom į mažesnes</a:t>
            </a:r>
          </a:p>
          <a:p>
            <a:r>
              <a:rPr sz="2600">
                <a:solidFill>
                  <a:srgbClr val="000000"/>
                </a:solidFill>
              </a:rPr>
              <a:t>Kiekviena maža dalis turi aiškų darbą</a:t>
            </a:r>
          </a:p>
          <a:p>
            <a:r>
              <a:rPr sz="2600">
                <a:solidFill>
                  <a:srgbClr val="000000"/>
                </a:solidFill>
              </a:rPr>
              <a:t>Jeigu negali funkcijos paaiškinti vienu sakiniu, ji tikriausiai daro per daug</a:t>
            </a:r>
          </a:p>
          <a:p>
            <a:r>
              <a:rPr sz="2600">
                <a:solidFill>
                  <a:srgbClr val="000000"/>
                </a:solidFill>
              </a:rPr>
              <a:t>Programavimas dažnai yra ne „kaip parašyti kodą“, o „kaip suskaldyti chaosą“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Mažas pavyzdys su helper funkcija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0000"/>
                </a:solidFill>
              </a:rPr>
              <a:t>Kartais sprendimą galima padaryti aiškesnį su pagalbine funkcija.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241280" cy="2971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Ins="182880" bIns="137160" rtlCol="0" anchor="t"/>
          <a:lstStyle/>
          <a:p>
            <a:pPr algn="l"/>
            <a:r>
              <a:rPr sz="1800">
                <a:solidFill>
                  <a:srgbClr val="000000"/>
                </a:solidFill>
                <a:latin typeface="Consolas"/>
              </a:rPr>
              <a:t>def is_even(number):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return number % 2 == 0</a:t>
            </a:r>
            <a:br/>
            <a:br/>
            <a:r>
              <a:rPr sz="1800">
                <a:solidFill>
                  <a:srgbClr val="000000"/>
                </a:solidFill>
                <a:latin typeface="Consolas"/>
              </a:rPr>
              <a:t>def run(number):</a:t>
            </a:r>
            <a:br/>
            <a:r>
              <a:rPr sz="1800">
                <a:solidFill>
                  <a:srgbClr val="000000"/>
                </a:solidFill>
                <a:latin typeface="Consolas"/>
              </a:rPr>
              <a:t>    return is_even(number)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23504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>
                <a:solidFill>
                  <a:srgbClr val="000000"/>
                </a:solidFill>
              </a:rPr>
              <a:t>Čia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nėra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būtina</a:t>
            </a:r>
            <a:r>
              <a:rPr sz="2400" dirty="0">
                <a:solidFill>
                  <a:srgbClr val="000000"/>
                </a:solidFill>
              </a:rPr>
              <a:t>, bet </a:t>
            </a:r>
            <a:r>
              <a:rPr sz="2400" dirty="0" err="1">
                <a:solidFill>
                  <a:srgbClr val="000000"/>
                </a:solidFill>
              </a:rPr>
              <a:t>vėliau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tokie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helperiai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išgelbės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nuo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makaronų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kodo</a:t>
            </a:r>
            <a:r>
              <a:rPr sz="2400" dirty="0">
                <a:solidFill>
                  <a:srgbClr val="000000"/>
                </a:solidFill>
              </a:rPr>
              <a:t>.</a:t>
            </a:r>
            <a:endParaRPr lang="lt-LT" sz="2400" dirty="0">
              <a:solidFill>
                <a:srgbClr val="000000"/>
              </a:solidFill>
            </a:endParaRPr>
          </a:p>
          <a:p>
            <a:r>
              <a:rPr lang="lt-LT" sz="2400" dirty="0">
                <a:solidFill>
                  <a:srgbClr val="000000"/>
                </a:solidFill>
              </a:rPr>
              <a:t>Taip tai yra </a:t>
            </a:r>
            <a:r>
              <a:rPr lang="lt-LT" sz="2400" dirty="0" err="1">
                <a:solidFill>
                  <a:srgbClr val="000000"/>
                </a:solidFill>
              </a:rPr>
              <a:t>labia</a:t>
            </a:r>
            <a:r>
              <a:rPr lang="lt-LT" sz="2400" dirty="0">
                <a:solidFill>
                  <a:srgbClr val="000000"/>
                </a:solidFill>
              </a:rPr>
              <a:t> realus terminas, neaiškiam, chaotiškam ir aiškios paskirties</a:t>
            </a:r>
          </a:p>
          <a:p>
            <a:r>
              <a:rPr lang="lt-LT" sz="2400" dirty="0">
                <a:solidFill>
                  <a:srgbClr val="000000"/>
                </a:solidFill>
              </a:rPr>
              <a:t>Neturinčiam chaoso gabalui, kuris kažkodėl dar be to yra kodas...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Praktika 3.1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Problem 11 – Sum 1 to N</a:t>
            </a:r>
          </a:p>
          <a:p>
            <a:r>
              <a:rPr sz="2600">
                <a:solidFill>
                  <a:srgbClr val="000000"/>
                </a:solidFill>
              </a:rPr>
              <a:t>Problem 12 – Count Vowels</a:t>
            </a:r>
          </a:p>
          <a:p>
            <a:r>
              <a:rPr sz="2600">
                <a:solidFill>
                  <a:srgbClr val="000000"/>
                </a:solidFill>
              </a:rPr>
              <a:t>Problem 13 – Sum of a List</a:t>
            </a:r>
          </a:p>
          <a:p>
            <a:r>
              <a:rPr sz="2600">
                <a:solidFill>
                  <a:srgbClr val="000000"/>
                </a:solidFill>
              </a:rPr>
              <a:t>Problem 14 – Factorial</a:t>
            </a:r>
          </a:p>
          <a:p>
            <a:endParaRPr sz="2600">
              <a:solidFill>
                <a:srgbClr val="000000"/>
              </a:solidFill>
            </a:endParaRPr>
          </a:p>
          <a:p>
            <a:r>
              <a:rPr sz="2600">
                <a:solidFill>
                  <a:srgbClr val="000000"/>
                </a:solidFill>
              </a:rPr>
              <a:t>Tikslas: loopai, skaitikliai, akumuliatoriai.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Praktika 3.2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 dirty="0">
                <a:solidFill>
                  <a:srgbClr val="000000"/>
                </a:solidFill>
              </a:rPr>
              <a:t>Problem 15 – Multiplication Table</a:t>
            </a:r>
          </a:p>
          <a:p>
            <a:r>
              <a:rPr sz="2600" dirty="0">
                <a:solidFill>
                  <a:srgbClr val="000000"/>
                </a:solidFill>
              </a:rPr>
              <a:t>Problem 16 – Find the Maximum</a:t>
            </a:r>
          </a:p>
          <a:p>
            <a:r>
              <a:rPr sz="2600" dirty="0">
                <a:solidFill>
                  <a:srgbClr val="000000"/>
                </a:solidFill>
              </a:rPr>
              <a:t>Problem 17 – Count Evens in a List</a:t>
            </a:r>
          </a:p>
          <a:p>
            <a:r>
              <a:rPr sz="2600" dirty="0">
                <a:solidFill>
                  <a:srgbClr val="000000"/>
                </a:solidFill>
              </a:rPr>
              <a:t>Problem 18 – Reverse a String</a:t>
            </a:r>
          </a:p>
          <a:p>
            <a:endParaRPr sz="2600" dirty="0">
              <a:solidFill>
                <a:srgbClr val="000000"/>
              </a:solidFill>
            </a:endParaRPr>
          </a:p>
          <a:p>
            <a:r>
              <a:rPr sz="2600" dirty="0" err="1">
                <a:solidFill>
                  <a:srgbClr val="000000"/>
                </a:solidFill>
              </a:rPr>
              <a:t>Čia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jau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lang="lt-LT" sz="2600" dirty="0">
                <a:solidFill>
                  <a:srgbClr val="000000"/>
                </a:solidFill>
              </a:rPr>
              <a:t>po </a:t>
            </a:r>
            <a:r>
              <a:rPr lang="lt-LT" sz="2600" dirty="0" err="1">
                <a:solidFill>
                  <a:srgbClr val="000000"/>
                </a:solidFill>
              </a:rPr>
              <a:t>trupučiuka</a:t>
            </a:r>
            <a:r>
              <a:rPr lang="lt-LT" sz="2600" dirty="0">
                <a:solidFill>
                  <a:srgbClr val="000000"/>
                </a:solidFill>
              </a:rPr>
              <a:t> reikia pradėti galvoti.</a:t>
            </a:r>
            <a:endParaRPr sz="2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Jeigu norit kentėti gražiai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Problem 19 – Palindrome Check</a:t>
            </a:r>
          </a:p>
          <a:p>
            <a:r>
              <a:rPr sz="2600">
                <a:solidFill>
                  <a:srgbClr val="000000"/>
                </a:solidFill>
              </a:rPr>
              <a:t>Problem 20 – Anagram Check</a:t>
            </a:r>
          </a:p>
          <a:p>
            <a:r>
              <a:rPr sz="2600">
                <a:solidFill>
                  <a:srgbClr val="000000"/>
                </a:solidFill>
              </a:rPr>
              <a:t>Bonus – Power Function su loopu</a:t>
            </a:r>
          </a:p>
          <a:p>
            <a:endParaRPr sz="2600">
              <a:solidFill>
                <a:srgbClr val="000000"/>
              </a:solidFill>
            </a:endParaRPr>
          </a:p>
          <a:p>
            <a:r>
              <a:rPr sz="2600">
                <a:solidFill>
                  <a:srgbClr val="000000"/>
                </a:solidFill>
              </a:rPr>
              <a:t>Nebūtina visiems. Bet jei jaučiatės per daug laimingi – prašom.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Kaip galvosim spręsdami problemas?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>
                <a:solidFill>
                  <a:srgbClr val="000000"/>
                </a:solidFill>
              </a:rPr>
              <a:t>Kokį inputą gaunu?</a:t>
            </a:r>
          </a:p>
          <a:p>
            <a:r>
              <a:rPr sz="2600">
                <a:solidFill>
                  <a:srgbClr val="000000"/>
                </a:solidFill>
              </a:rPr>
              <a:t>Kokį outputą turiu grąžinti?</a:t>
            </a:r>
          </a:p>
          <a:p>
            <a:r>
              <a:rPr sz="2600">
                <a:solidFill>
                  <a:srgbClr val="000000"/>
                </a:solidFill>
              </a:rPr>
              <a:t>Ar reikia kažką kartoti?</a:t>
            </a:r>
          </a:p>
          <a:p>
            <a:r>
              <a:rPr sz="2600">
                <a:solidFill>
                  <a:srgbClr val="000000"/>
                </a:solidFill>
              </a:rPr>
              <a:t>Ar reikia kažką skaičiuoti / kaupti?</a:t>
            </a:r>
          </a:p>
          <a:p>
            <a:r>
              <a:rPr sz="2600">
                <a:solidFill>
                  <a:srgbClr val="000000"/>
                </a:solidFill>
              </a:rPr>
              <a:t>Ar yra edge case?</a:t>
            </a:r>
          </a:p>
          <a:p>
            <a:r>
              <a:rPr sz="2600">
                <a:solidFill>
                  <a:srgbClr val="000000"/>
                </a:solidFill>
              </a:rPr>
              <a:t>Ar galiu problemą padalinti į funkcijas?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Lyginam sprendimus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600" dirty="0" err="1">
                <a:solidFill>
                  <a:srgbClr val="000000"/>
                </a:solidFill>
              </a:rPr>
              <a:t>Trumpesnis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kodas</a:t>
            </a:r>
            <a:r>
              <a:rPr sz="2600" dirty="0">
                <a:solidFill>
                  <a:srgbClr val="000000"/>
                </a:solidFill>
              </a:rPr>
              <a:t> ne </a:t>
            </a:r>
            <a:r>
              <a:rPr sz="2600" dirty="0" err="1">
                <a:solidFill>
                  <a:srgbClr val="000000"/>
                </a:solidFill>
              </a:rPr>
              <a:t>visada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geresnis</a:t>
            </a:r>
            <a:endParaRPr sz="2600" dirty="0">
              <a:solidFill>
                <a:srgbClr val="000000"/>
              </a:solidFill>
            </a:endParaRPr>
          </a:p>
          <a:p>
            <a:r>
              <a:rPr sz="2600" dirty="0" err="1">
                <a:solidFill>
                  <a:srgbClr val="000000"/>
                </a:solidFill>
              </a:rPr>
              <a:t>Aiškus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kodas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beveik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visada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geresnis</a:t>
            </a:r>
            <a:endParaRPr sz="2600" dirty="0">
              <a:solidFill>
                <a:srgbClr val="000000"/>
              </a:solidFill>
            </a:endParaRPr>
          </a:p>
          <a:p>
            <a:r>
              <a:rPr sz="2600" dirty="0" err="1">
                <a:solidFill>
                  <a:srgbClr val="000000"/>
                </a:solidFill>
              </a:rPr>
              <a:t>Greitas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kodas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svarbu</a:t>
            </a:r>
            <a:r>
              <a:rPr sz="2600" dirty="0">
                <a:solidFill>
                  <a:srgbClr val="000000"/>
                </a:solidFill>
              </a:rPr>
              <a:t> tik kai </a:t>
            </a:r>
            <a:r>
              <a:rPr sz="2600" dirty="0" err="1">
                <a:solidFill>
                  <a:srgbClr val="000000"/>
                </a:solidFill>
              </a:rPr>
              <a:t>lėtumas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realiai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yra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problema</a:t>
            </a:r>
            <a:endParaRPr sz="2600" dirty="0">
              <a:solidFill>
                <a:srgbClr val="000000"/>
              </a:solidFill>
            </a:endParaRPr>
          </a:p>
          <a:p>
            <a:r>
              <a:rPr sz="2600" dirty="0" err="1">
                <a:solidFill>
                  <a:srgbClr val="000000"/>
                </a:solidFill>
              </a:rPr>
              <a:t>Jeigu</a:t>
            </a:r>
            <a:r>
              <a:rPr sz="2600" dirty="0">
                <a:solidFill>
                  <a:srgbClr val="000000"/>
                </a:solidFill>
              </a:rPr>
              <a:t> po </a:t>
            </a:r>
            <a:r>
              <a:rPr sz="2600" dirty="0" err="1">
                <a:solidFill>
                  <a:srgbClr val="000000"/>
                </a:solidFill>
              </a:rPr>
              <a:t>savaitės</a:t>
            </a:r>
            <a:r>
              <a:rPr sz="2600" dirty="0">
                <a:solidFill>
                  <a:srgbClr val="000000"/>
                </a:solidFill>
              </a:rPr>
              <a:t> pats </a:t>
            </a:r>
            <a:r>
              <a:rPr sz="2600" dirty="0" err="1">
                <a:solidFill>
                  <a:srgbClr val="000000"/>
                </a:solidFill>
              </a:rPr>
              <a:t>nesuprasi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savo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sprendimo</a:t>
            </a:r>
            <a:r>
              <a:rPr sz="2600" dirty="0">
                <a:solidFill>
                  <a:srgbClr val="000000"/>
                </a:solidFill>
              </a:rPr>
              <a:t>, tai ne </a:t>
            </a:r>
            <a:r>
              <a:rPr sz="2600" dirty="0" err="1">
                <a:solidFill>
                  <a:srgbClr val="000000"/>
                </a:solidFill>
              </a:rPr>
              <a:t>protingas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kodas</a:t>
            </a:r>
            <a:r>
              <a:rPr sz="2600" dirty="0">
                <a:solidFill>
                  <a:srgbClr val="000000"/>
                </a:solidFill>
              </a:rPr>
              <a:t>, tai </a:t>
            </a:r>
            <a:r>
              <a:rPr sz="2600" dirty="0" err="1">
                <a:solidFill>
                  <a:srgbClr val="000000"/>
                </a:solidFill>
              </a:rPr>
              <a:t>laiškas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sau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iš</a:t>
            </a:r>
            <a:r>
              <a:rPr sz="2600" dirty="0">
                <a:solidFill>
                  <a:srgbClr val="000000"/>
                </a:solidFill>
              </a:rPr>
              <a:t> </a:t>
            </a:r>
            <a:r>
              <a:rPr sz="2600" dirty="0" err="1">
                <a:solidFill>
                  <a:srgbClr val="000000"/>
                </a:solidFill>
              </a:rPr>
              <a:t>pragaro</a:t>
            </a:r>
            <a:r>
              <a:rPr lang="lt-LT" sz="2600" dirty="0">
                <a:solidFill>
                  <a:srgbClr val="000000"/>
                </a:solidFill>
              </a:rPr>
              <a:t>. Toks kodas visada tave paveja </a:t>
            </a:r>
            <a:r>
              <a:rPr lang="lt-LT" sz="2600" dirty="0" err="1">
                <a:solidFill>
                  <a:srgbClr val="000000"/>
                </a:solidFill>
              </a:rPr>
              <a:t>įpatingai</a:t>
            </a:r>
            <a:r>
              <a:rPr lang="lt-LT" sz="2600" dirty="0">
                <a:solidFill>
                  <a:srgbClr val="000000"/>
                </a:solidFill>
              </a:rPr>
              <a:t> jeigu tai yra kelių mėnesių projektas. Nekalkite sau karsto, prieš mirštant.</a:t>
            </a:r>
            <a:endParaRPr sz="2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Pamokos 3 santrauka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500">
                <a:solidFill>
                  <a:srgbClr val="000000"/>
                </a:solidFill>
              </a:rPr>
              <a:t>while kartoja kol sąlyga True</a:t>
            </a:r>
          </a:p>
          <a:p>
            <a:r>
              <a:rPr sz="2500">
                <a:solidFill>
                  <a:srgbClr val="000000"/>
                </a:solidFill>
              </a:rPr>
              <a:t>for eina per seką / range()</a:t>
            </a:r>
          </a:p>
          <a:p>
            <a:r>
              <a:rPr sz="2500">
                <a:solidFill>
                  <a:srgbClr val="000000"/>
                </a:solidFill>
              </a:rPr>
              <a:t>Skaitikliai skaičiuoja įvykius</a:t>
            </a:r>
          </a:p>
          <a:p>
            <a:r>
              <a:rPr sz="2500">
                <a:solidFill>
                  <a:srgbClr val="000000"/>
                </a:solidFill>
              </a:rPr>
              <a:t>Akumuliatoriai kaupia rezultatą</a:t>
            </a:r>
          </a:p>
          <a:p>
            <a:r>
              <a:rPr sz="2500">
                <a:solidFill>
                  <a:srgbClr val="000000"/>
                </a:solidFill>
              </a:rPr>
              <a:t>Funkcijos pavadina logikos gabalus</a:t>
            </a:r>
          </a:p>
          <a:p>
            <a:r>
              <a:rPr sz="2500">
                <a:solidFill>
                  <a:srgbClr val="000000"/>
                </a:solidFill>
              </a:rPr>
              <a:t>Parametrai įneša informaciją į funkciją</a:t>
            </a:r>
          </a:p>
          <a:p>
            <a:r>
              <a:rPr sz="2500">
                <a:solidFill>
                  <a:srgbClr val="000000"/>
                </a:solidFill>
              </a:rPr>
              <a:t>return grąžina atsakymą programai / testams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Kitą kartą jau pradėsim rimčiau kapoti problemas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2307</Words>
  <Application>Microsoft Office PowerPoint</Application>
  <PresentationFormat>Widescreen</PresentationFormat>
  <Paragraphs>244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Consolas</vt:lpstr>
      <vt:lpstr>Office Theme</vt:lpstr>
      <vt:lpstr>Pamoka 2: IDE, duomenys ir ifai</vt:lpstr>
      <vt:lpstr>Šiandien yapinsim apie:</vt:lpstr>
      <vt:lpstr>Bet pirma mum jau šiandien reikės naudotis github</vt:lpstr>
      <vt:lpstr>Greitas recap iš praeito karto</vt:lpstr>
      <vt:lpstr>IDE nėra programavimas</vt:lpstr>
      <vt:lpstr>Ką dabar darom su VS Code?</vt:lpstr>
      <vt:lpstr>input() mus apgavo</vt:lpstr>
      <vt:lpstr>int() ir float()</vt:lpstr>
      <vt:lpstr>Palyginimai</vt:lpstr>
      <vt:lpstr>Booleanai: True / False</vt:lpstr>
      <vt:lpstr>if: kompiuteris pagaliau gali rinktis</vt:lpstr>
      <vt:lpstr>else ir elif</vt:lpstr>
      <vt:lpstr>and / or / not</vt:lpstr>
      <vt:lpstr>Pavyzdys: even / odd normaliai</vt:lpstr>
      <vt:lpstr>Dabar įrankis, nes vien kalbėt neužtenka</vt:lpstr>
      <vt:lpstr>Kas yra mano mini LeetCode?</vt:lpstr>
      <vt:lpstr>Kaip įrankis mąsto?</vt:lpstr>
      <vt:lpstr>Kaip spręsti užduotį įrankyje?</vt:lpstr>
      <vt:lpstr>Svarbus dalykas: print() != return</vt:lpstr>
      <vt:lpstr>Praktika 2.1</vt:lpstr>
      <vt:lpstr>Praktika 2.2</vt:lpstr>
      <vt:lpstr>Lyginam sprendimus</vt:lpstr>
      <vt:lpstr>Pamokos 2 santrauka</vt:lpstr>
      <vt:lpstr>Pamoka 3: loopai, funkcijos ir mažiau copy-paste kančios</vt:lpstr>
      <vt:lpstr>Toliau Yapinsim apie:</vt:lpstr>
      <vt:lpstr>Kodėl loopai egzistuoja?</vt:lpstr>
      <vt:lpstr>while loopas</vt:lpstr>
      <vt:lpstr>Begaliniai loopai</vt:lpstr>
      <vt:lpstr>for loopas ir range()</vt:lpstr>
      <vt:lpstr>Skaitiklis</vt:lpstr>
      <vt:lpstr>Akumuliatorius</vt:lpstr>
      <vt:lpstr>Loop + if kartu</vt:lpstr>
      <vt:lpstr>Jeigu kodas kartojasi...</vt:lpstr>
      <vt:lpstr>Funkcijos</vt:lpstr>
      <vt:lpstr>Parametrai</vt:lpstr>
      <vt:lpstr>print() vs return dar kartą</vt:lpstr>
      <vt:lpstr>Kodėl įrankyje visur run()? </vt:lpstr>
      <vt:lpstr>Dekompozicija</vt:lpstr>
      <vt:lpstr>Mažas pavyzdys su helper funkcija</vt:lpstr>
      <vt:lpstr>Praktika 3.1</vt:lpstr>
      <vt:lpstr>Praktika 3.2</vt:lpstr>
      <vt:lpstr>Jeigu norit kentėti gražiai</vt:lpstr>
      <vt:lpstr>Kaip galvosim spręsdami problemas?</vt:lpstr>
      <vt:lpstr>Lyginam sprendimus 2.0</vt:lpstr>
      <vt:lpstr>Pamokos 3 santrauka</vt:lpstr>
      <vt:lpstr>Kitą kartą jau pradėsim rimčiau kapoti problemas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Vilius Raguotis</dc:creator>
  <cp:lastModifiedBy>Vilius Raguotis</cp:lastModifiedBy>
  <cp:revision>11</cp:revision>
  <dcterms:created xsi:type="dcterms:W3CDTF">2026-09-19T12:33:24Z</dcterms:created>
  <dcterms:modified xsi:type="dcterms:W3CDTF">2026-09-28T19:44:34Z</dcterms:modified>
</cp:coreProperties>
</file>