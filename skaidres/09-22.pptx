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87" r:id="rId6"/>
    <p:sldId id="288" r:id="rId7"/>
    <p:sldId id="266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74" r:id="rId23"/>
    <p:sldId id="275" r:id="rId24"/>
    <p:sldId id="282" r:id="rId25"/>
    <p:sldId id="276" r:id="rId26"/>
    <p:sldId id="277" r:id="rId27"/>
    <p:sldId id="278" r:id="rId28"/>
    <p:sldId id="281" r:id="rId29"/>
    <p:sldId id="279" r:id="rId30"/>
    <p:sldId id="283" r:id="rId31"/>
    <p:sldId id="284" r:id="rId32"/>
    <p:sldId id="285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3915-6C81-4D4E-0955-B78B2DF54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BDE22-69B9-30BC-C21F-992D5B50D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EE18-C259-2A6A-EF4F-606A42B5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FC71-1CEF-189B-20DB-6FA959CDC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355ED-EE1E-F53B-133A-6FD286F8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6F1D-BED0-55E6-E458-87909863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DC1EB-492E-92C5-BE09-EAC392C48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08B9-0711-371C-EA64-0F3F480E3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9C63D-9C19-16D2-4D97-2892F4EB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627E3-B11A-FCF2-4E5A-239FADFB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6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8508-3C10-3BE2-29B9-6C02D397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C45AB-7B69-FD20-FCA9-759CE9E83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BBC33-C0B1-E369-E5BE-0AA6AFA0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E44D-B080-51C2-C97D-8A4F16F3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8AAD-F17D-F367-61E7-C3AC1F26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7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8057-89E1-BB2F-CB3B-BC6C99CF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DD66-0688-6ED4-3079-F4CE8D1E7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79567-8916-6B0F-EB95-B3D074B61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98B8E-B274-90B4-C59C-69FCFB5F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8D905-2ABF-BBA8-5C8E-9977FD12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456FF-F8AA-38C4-4DB3-3AEC74B1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6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FEFA-F5D7-467B-7E4F-87B3E949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D3FAE-3C8C-B589-DE55-C106F40BD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A34A7-4D5F-D906-D299-1CA94D46E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14EE9-0DD1-DD37-3513-162B5727E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D4B6C-7D80-CF86-1404-053572B56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16B9B-4333-E082-EF48-D76F882E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86FB0-B95B-C8C9-2BCA-A27FF3EB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BB2E1-EE3E-B4E7-2375-C3FF786B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7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C63C-746D-E60E-E6A6-271D50D6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CCDB0-8B53-4B13-C928-B5E8FB31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D8889-8811-AC4D-C0C7-68DCFB0B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72C3D-7748-5335-493B-ECD372E2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6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E71F5-C960-4D5B-34BF-A7638327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C252E-FD45-6915-E7CF-3123A050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F000F-3399-4342-3C9B-0A00A1E29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2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ECB5-EEF9-327A-3500-6E28AF04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872E8-7D8D-238A-1E9D-8DFFB7DC6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A434D-9B8C-A254-5CB5-77827F06C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59C0E-34B5-9888-3687-B1B3B877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71B2C-6E29-EDBB-2589-464182E9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1A994-D6E6-B70C-735D-216DE373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2846-9266-9788-ECDD-210DC7450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4077D-3B62-0C44-9A4E-CFCCF7CCD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C9503-412F-6459-42DE-B79FC2C9F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641B0-6B08-6415-1881-CE60C9C5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094D5-C4EF-1874-EBCE-496131E8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4EAF0-A046-9BFF-A9D9-3A0EBDF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0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2923-92BE-4297-0091-BB8299A0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1DDC1-1312-211F-58FC-321B9C84F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A4B8F-AF8A-65AD-9706-7AA385CD3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F033-C39F-D585-AB4A-56633908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0CB6-6809-C9D5-839B-C329E239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1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B38BC-1431-729F-3BB7-A4C5F9354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C871C-4C56-980B-D207-442666666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D57CF-0123-A921-FF4B-E2FEEFA0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F3232-9428-1CC1-3657-931839C0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24361-5650-2863-F293-4CD04DE0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8F87D-87A5-04F0-1544-A42C810E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6E246-6AB5-F2BC-60FB-1ECA0457B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AD210-82FB-BEE7-7608-922444613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ECE8A-439A-4BCD-A7DC-EFE035EFB41C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B55C-0776-1CD9-5760-B02E0DBDD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61AD6-D726-6DE6-0D66-FDE97DDC4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A26B3-56CD-41D7-AFBC-F2D450E2B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5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A088-9478-0179-3EE1-FA22ECD9EA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t-LT" dirty="0"/>
              <a:t>Programavimo pradmenys su </a:t>
            </a:r>
            <a:r>
              <a:rPr lang="lt-LT" dirty="0" err="1"/>
              <a:t>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E6603-BE49-7B17-A69B-1C7DCDC89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Paruošė vienintelis ir </a:t>
            </a:r>
            <a:r>
              <a:rPr lang="lt-LT" dirty="0" err="1"/>
              <a:t>nepakartojams</a:t>
            </a:r>
            <a:r>
              <a:rPr lang="lt-LT" dirty="0"/>
              <a:t> Vilius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9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943F-DA2C-697A-00B6-5BF52067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Tikslas: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9AFE-1788-9809-45C2-7E62DB71F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lt-LT" dirty="0"/>
              <a:t>Kai, bet koks mano </a:t>
            </a:r>
            <a:r>
              <a:rPr lang="lt-LT" dirty="0" err="1"/>
              <a:t>yapas</a:t>
            </a:r>
            <a:r>
              <a:rPr lang="lt-LT" dirty="0"/>
              <a:t> </a:t>
            </a:r>
            <a:r>
              <a:rPr lang="lt-LT" dirty="0" err="1"/>
              <a:t>neišvengamai</a:t>
            </a:r>
            <a:r>
              <a:rPr lang="lt-LT" dirty="0"/>
              <a:t> </a:t>
            </a:r>
            <a:r>
              <a:rPr lang="lt-LT" dirty="0" err="1"/>
              <a:t>prieeina</a:t>
            </a:r>
            <a:r>
              <a:rPr lang="lt-LT" dirty="0"/>
              <a:t> programavimą, kad man nereikėtų visko aiškinti nuo 0.</a:t>
            </a:r>
          </a:p>
          <a:p>
            <a:r>
              <a:rPr lang="lt-LT" dirty="0"/>
              <a:t>Duoti tvirtus pagrindus, programavime, kurie pereitų į bet kokią kalbą, leistu, esant norui mokintis savarankiškai, kurti, palengvinti darbą ir neprievartauti vargšo kompiuterio.</a:t>
            </a:r>
          </a:p>
          <a:p>
            <a:r>
              <a:rPr lang="lt-LT" dirty="0"/>
              <a:t>Mokėti užtektinai </a:t>
            </a:r>
            <a:r>
              <a:rPr lang="en-US" dirty="0"/>
              <a:t>python</a:t>
            </a:r>
            <a:r>
              <a:rPr lang="lt-LT" dirty="0"/>
              <a:t> pradmenų, kad galėtumėt pagriebti bet kokį </a:t>
            </a:r>
            <a:r>
              <a:rPr lang="lt-LT" dirty="0" err="1"/>
              <a:t>random</a:t>
            </a:r>
            <a:r>
              <a:rPr lang="lt-LT" dirty="0"/>
              <a:t> </a:t>
            </a:r>
            <a:r>
              <a:rPr lang="lt-LT" dirty="0" err="1"/>
              <a:t>ass</a:t>
            </a:r>
            <a:r>
              <a:rPr lang="lt-LT" dirty="0"/>
              <a:t> projektą, suskaidyti jį į mažus įkandamus gabaliukus ir </a:t>
            </a:r>
            <a:r>
              <a:rPr lang="lt-LT" dirty="0" err="1"/>
              <a:t>įvektumėte</a:t>
            </a:r>
            <a:r>
              <a:rPr lang="lt-LT" dirty="0"/>
              <a:t>. YAY</a:t>
            </a:r>
            <a:r>
              <a:rPr lang="en-US" dirty="0"/>
              <a:t> (tai lie</a:t>
            </a:r>
            <a:r>
              <a:rPr lang="lt-LT" dirty="0"/>
              <a:t>čia ne vien projektus, bet ir kitas programavimo kalbas)</a:t>
            </a:r>
          </a:p>
          <a:p>
            <a:r>
              <a:rPr lang="lt-LT" dirty="0"/>
              <a:t>TIKSLAS NĖRA ATKALTI IR ĮSIMINTI PYTHONĄ </a:t>
            </a:r>
            <a:r>
              <a:rPr lang="en-US" dirty="0"/>
              <a:t>!!! PYTHONAS YRA TIESIOG </a:t>
            </a:r>
            <a:r>
              <a:rPr lang="lt-LT" dirty="0"/>
              <a:t>ĮRANKIS KURĮ NAUDOSIME.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381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A269-E5A6-0E8C-EE98-A6759332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Kaip vyks pamokėlės?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F1BD-22D6-8CCC-DBF1-B4D004FD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Teorija -&gt; Pavyzdžiai -&gt; Praktika -&gt; Lyginam sprendimus -&gt; sunkesnė praktika -&gt; Kartojam</a:t>
            </a:r>
          </a:p>
          <a:p>
            <a:endParaRPr lang="lt-LT" dirty="0"/>
          </a:p>
          <a:p>
            <a:endParaRPr lang="lt-LT" dirty="0"/>
          </a:p>
          <a:p>
            <a:pPr marL="0" indent="0">
              <a:buNone/>
            </a:pPr>
            <a:endParaRPr lang="lt-LT" dirty="0"/>
          </a:p>
          <a:p>
            <a:r>
              <a:rPr lang="lt-LT" dirty="0"/>
              <a:t>Nes išmoksti darydamas, teorija be praktikos yra bevertė.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91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2D47-C99F-4F5E-B7DC-51E7D1A2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Materialai: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E50F0-CD01-A0E1-790A-D76AD3B1C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Visos skaidrės, teorinė informacija ir pratimai yra </a:t>
            </a:r>
            <a:r>
              <a:rPr lang="lt-LT" dirty="0" err="1"/>
              <a:t>githube</a:t>
            </a:r>
            <a:r>
              <a:rPr lang="lt-LT" dirty="0"/>
              <a:t>:</a:t>
            </a:r>
          </a:p>
          <a:p>
            <a:r>
              <a:rPr lang="lt-LT" dirty="0"/>
              <a:t>Norint išmokt daugiau ateikit pas dėdę prie lentos parekomenduos knygų iš interneto.</a:t>
            </a:r>
            <a:endParaRPr lang="en-US" dirty="0"/>
          </a:p>
        </p:txBody>
      </p:sp>
      <p:pic>
        <p:nvPicPr>
          <p:cNvPr id="4" name="Graphic 3" descr="QR preview">
            <a:extLst>
              <a:ext uri="{FF2B5EF4-FFF2-40B4-BE49-F238E27FC236}">
                <a16:creationId xmlns:a16="http://schemas.microsoft.com/office/drawing/2014/main" id="{7899A396-44BF-1FB5-DCE6-BDFFD32DE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72052" y="3495215"/>
            <a:ext cx="3157998" cy="31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8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26F9-B3F8-7516-7710-F4B36A2D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Apie ką </a:t>
            </a:r>
            <a:r>
              <a:rPr lang="lt-LT" dirty="0" err="1"/>
              <a:t>yapinsiu</a:t>
            </a:r>
            <a:r>
              <a:rPr lang="lt-LT" dirty="0"/>
              <a:t> šiandien: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EA2BD-2F28-7422-3682-89038AD94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lt-LT" dirty="0"/>
              <a:t>Kas apskritai yra programavimas</a:t>
            </a:r>
          </a:p>
          <a:p>
            <a:r>
              <a:rPr lang="lt-LT" dirty="0"/>
              <a:t>Instrukcijos</a:t>
            </a:r>
          </a:p>
          <a:p>
            <a:r>
              <a:rPr lang="lt-LT" dirty="0"/>
              <a:t>Algoritmai</a:t>
            </a:r>
          </a:p>
          <a:p>
            <a:r>
              <a:rPr lang="lt-LT" dirty="0" err="1"/>
              <a:t>Interpreteris</a:t>
            </a:r>
            <a:endParaRPr lang="lt-LT" dirty="0"/>
          </a:p>
          <a:p>
            <a:r>
              <a:rPr lang="lt-LT" dirty="0"/>
              <a:t>Terminalas</a:t>
            </a:r>
          </a:p>
          <a:p>
            <a:r>
              <a:rPr lang="lt-LT" dirty="0"/>
              <a:t>Kintamieji</a:t>
            </a:r>
          </a:p>
          <a:p>
            <a:r>
              <a:rPr lang="lt-LT" dirty="0"/>
              <a:t>Operatoriai ir </a:t>
            </a:r>
            <a:r>
              <a:rPr lang="lt-LT" dirty="0" err="1"/>
              <a:t>operandės</a:t>
            </a:r>
            <a:endParaRPr lang="lt-LT" dirty="0"/>
          </a:p>
          <a:p>
            <a:r>
              <a:rPr lang="lt-LT" dirty="0" err="1"/>
              <a:t>Expresijos</a:t>
            </a:r>
            <a:endParaRPr lang="en-US" dirty="0"/>
          </a:p>
        </p:txBody>
      </p:sp>
      <p:pic>
        <p:nvPicPr>
          <p:cNvPr id="4" name="Picture 3" descr="Yes Cat Thumbs Up Sticker - Yes Cat Thumbs Up Thumbs Up - Discover &amp; Share  GIFs">
            <a:extLst>
              <a:ext uri="{FF2B5EF4-FFF2-40B4-BE49-F238E27FC236}">
                <a16:creationId xmlns:a16="http://schemas.microsoft.com/office/drawing/2014/main" id="{F399D88D-70BD-7AA9-332B-F1C07FE88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646606" y="1713478"/>
            <a:ext cx="5545394" cy="514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32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B50E-A13F-EBF0-6907-B158D086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Ir pati programa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AB9B-B2B7-F94B-E468-C6D262E70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lt-LT" dirty="0"/>
              <a:t>ID</a:t>
            </a:r>
            <a:r>
              <a:rPr lang="en-US" dirty="0"/>
              <a:t>E, </a:t>
            </a:r>
            <a:r>
              <a:rPr lang="en-US" dirty="0" err="1"/>
              <a:t>Darbas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duomenim</a:t>
            </a:r>
            <a:r>
              <a:rPr lang="en-US" dirty="0"/>
              <a:t> </a:t>
            </a:r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programavimo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(</a:t>
            </a:r>
            <a:r>
              <a:rPr lang="en-US" dirty="0" err="1"/>
              <a:t>jei</a:t>
            </a:r>
            <a:r>
              <a:rPr lang="en-US" dirty="0"/>
              <a:t> statements </a:t>
            </a:r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loopai</a:t>
            </a:r>
            <a:r>
              <a:rPr lang="en-US" dirty="0"/>
              <a:t>)</a:t>
            </a:r>
          </a:p>
          <a:p>
            <a:r>
              <a:rPr lang="en-US" dirty="0" err="1"/>
              <a:t>Funkcijos</a:t>
            </a:r>
            <a:r>
              <a:rPr lang="en-US" dirty="0"/>
              <a:t> id j</a:t>
            </a:r>
            <a:r>
              <a:rPr lang="lt-LT" dirty="0"/>
              <a:t>ų dekompozicija, </a:t>
            </a:r>
            <a:r>
              <a:rPr lang="lt-LT" dirty="0" err="1"/>
              <a:t>github</a:t>
            </a:r>
            <a:r>
              <a:rPr lang="lt-LT" dirty="0"/>
              <a:t>, parametrai, </a:t>
            </a:r>
            <a:r>
              <a:rPr lang="lt-LT" dirty="0" err="1"/>
              <a:t>return</a:t>
            </a:r>
            <a:r>
              <a:rPr lang="lt-LT" dirty="0"/>
              <a:t> </a:t>
            </a:r>
            <a:r>
              <a:rPr lang="lt-LT" dirty="0" err="1"/>
              <a:t>values</a:t>
            </a:r>
            <a:r>
              <a:rPr lang="lt-LT" dirty="0"/>
              <a:t>, </a:t>
            </a:r>
            <a:r>
              <a:rPr lang="lt-LT" dirty="0" err="1"/>
              <a:t>scope</a:t>
            </a:r>
            <a:r>
              <a:rPr lang="lt-LT" dirty="0"/>
              <a:t>...</a:t>
            </a:r>
          </a:p>
          <a:p>
            <a:r>
              <a:rPr lang="lt-LT" dirty="0"/>
              <a:t>Sudėtingesni duomenų tipai ir darbai su jais</a:t>
            </a:r>
          </a:p>
          <a:p>
            <a:r>
              <a:rPr lang="lt-LT" dirty="0"/>
              <a:t>Duomenų struktūravimas, programos </a:t>
            </a:r>
            <a:r>
              <a:rPr lang="lt-LT" dirty="0" err="1"/>
              <a:t>state</a:t>
            </a:r>
            <a:r>
              <a:rPr lang="lt-LT" dirty="0"/>
              <a:t> ir </a:t>
            </a:r>
            <a:r>
              <a:rPr lang="lt-LT" dirty="0" err="1"/>
              <a:t>naming</a:t>
            </a:r>
            <a:r>
              <a:rPr lang="lt-LT" dirty="0"/>
              <a:t> </a:t>
            </a:r>
            <a:r>
              <a:rPr lang="lt-LT" dirty="0" err="1"/>
              <a:t>convention</a:t>
            </a:r>
            <a:r>
              <a:rPr lang="lt-LT" dirty="0"/>
              <a:t>.</a:t>
            </a:r>
          </a:p>
          <a:p>
            <a:r>
              <a:rPr lang="lt-LT" dirty="0"/>
              <a:t>Klasės</a:t>
            </a:r>
          </a:p>
          <a:p>
            <a:r>
              <a:rPr lang="lt-LT" dirty="0"/>
              <a:t>Darbo automatizacija</a:t>
            </a:r>
          </a:p>
          <a:p>
            <a:r>
              <a:rPr lang="lt-LT" dirty="0"/>
              <a:t>Žaidimai ir kitos temos, programavimo filosofijos, sudėtingesni programavimo </a:t>
            </a:r>
            <a:r>
              <a:rPr lang="lt-LT" dirty="0" err="1"/>
              <a:t>kospektai</a:t>
            </a:r>
            <a:r>
              <a:rPr lang="lt-LT" dirty="0"/>
              <a:t>, kurias galit pasiūlyt, nes </a:t>
            </a:r>
            <a:r>
              <a:rPr lang="lt-LT" dirty="0" err="1"/>
              <a:t>basicai</a:t>
            </a:r>
            <a:r>
              <a:rPr lang="lt-LT" dirty="0"/>
              <a:t> baigiasi čia</a:t>
            </a:r>
          </a:p>
          <a:p>
            <a:r>
              <a:rPr lang="lt-LT" dirty="0" err="1"/>
              <a:t>Build</a:t>
            </a:r>
            <a:r>
              <a:rPr lang="lt-LT" dirty="0"/>
              <a:t> </a:t>
            </a:r>
            <a:r>
              <a:rPr lang="lt-LT" dirty="0" err="1"/>
              <a:t>your</a:t>
            </a:r>
            <a:r>
              <a:rPr lang="lt-LT" dirty="0"/>
              <a:t> </a:t>
            </a:r>
            <a:r>
              <a:rPr lang="lt-LT" dirty="0" err="1"/>
              <a:t>own</a:t>
            </a:r>
            <a:r>
              <a:rPr lang="lt-LT" dirty="0"/>
              <a:t> X, programavimo specializacija...</a:t>
            </a:r>
          </a:p>
          <a:p>
            <a:r>
              <a:rPr lang="lt-LT" dirty="0"/>
              <a:t>Nu ir jei netingėsiu galėsim tęsti ir sulėtinti tempą ir mokintis kažką labiau </a:t>
            </a:r>
            <a:r>
              <a:rPr lang="lt-LT" dirty="0" err="1"/>
              <a:t>advanced</a:t>
            </a:r>
            <a:r>
              <a:rPr lang="lt-L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587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2DA6-4368-791F-D668-607F7CDB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Dabar prieš pradedant parsisiųskit </a:t>
            </a:r>
            <a:r>
              <a:rPr lang="lt-LT" dirty="0" err="1"/>
              <a:t>python</a:t>
            </a:r>
            <a:r>
              <a:rPr lang="lt-LT" dirty="0"/>
              <a:t>, kad nereikėtų laukt:</a:t>
            </a:r>
            <a:endParaRPr lang="en-US" dirty="0"/>
          </a:p>
        </p:txBody>
      </p:sp>
      <p:pic>
        <p:nvPicPr>
          <p:cNvPr id="4" name="Graphic 3" descr="QR preview">
            <a:extLst>
              <a:ext uri="{FF2B5EF4-FFF2-40B4-BE49-F238E27FC236}">
                <a16:creationId xmlns:a16="http://schemas.microsoft.com/office/drawing/2014/main" id="{8E891940-E036-E850-4106-CA870771F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4304" y="1825625"/>
            <a:ext cx="4782780" cy="478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1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CA95-6281-285C-C0D1-BBFFE810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Kas apskritai yra programavimas?</a:t>
            </a:r>
            <a:endParaRPr lang="en-US" dirty="0"/>
          </a:p>
        </p:txBody>
      </p:sp>
      <p:pic>
        <p:nvPicPr>
          <p:cNvPr id="5" name="Picture 4" descr="The Sandwich Story: An Introduction to Programming | by Philip Barven |  Medium">
            <a:extLst>
              <a:ext uri="{FF2B5EF4-FFF2-40B4-BE49-F238E27FC236}">
                <a16:creationId xmlns:a16="http://schemas.microsoft.com/office/drawing/2014/main" id="{DD97B77E-0676-C561-C1CC-DD63421E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5" y="1287923"/>
            <a:ext cx="5107843" cy="5143500"/>
          </a:xfrm>
          <a:prstGeom prst="rect">
            <a:avLst/>
          </a:prstGeom>
        </p:spPr>
      </p:pic>
      <p:pic>
        <p:nvPicPr>
          <p:cNvPr id="11" name="Content Placeholder 7" descr="The Yummy DevOps Burger: Making a Tech Sandwich, Step by Step! - DEV  Community">
            <a:extLst>
              <a:ext uri="{FF2B5EF4-FFF2-40B4-BE49-F238E27FC236}">
                <a16:creationId xmlns:a16="http://schemas.microsoft.com/office/drawing/2014/main" id="{A6568B6A-EAFF-A3CE-F6A7-D52F94039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34212" y="1573935"/>
            <a:ext cx="3805520" cy="506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9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515A-6517-029E-32C0-36E609C6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Kas apskritai yra programavimas?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5448C-306C-6605-8B34-A3F1FE643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Žmonės natūraliai interpretuoja informacija, kai mes komunikuojame mes natūraliai suprantame vienas kitą.</a:t>
            </a:r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endParaRPr lang="lt-LT" dirty="0"/>
          </a:p>
          <a:p>
            <a:r>
              <a:rPr lang="lt-LT" dirty="0"/>
              <a:t>Kompiuteris neinterpretuoja informacijos, jis daro tiksliai tai ką liepi jam daryti. Nieko daugiau ir nieko mažiau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58220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9626-6427-3436-F32E-48D5E279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Keli esminiai terminai, prieš judant toliau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375FC-7F4C-0EBA-AF6F-8C848C4B5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Instrukcija – kažkas ką liepi kompiuteriui daryti</a:t>
            </a:r>
          </a:p>
          <a:p>
            <a:r>
              <a:rPr lang="lt-LT" dirty="0"/>
              <a:t>Algoritmas – žingsnių rinkinys skirtas išspręsti problemai</a:t>
            </a:r>
          </a:p>
          <a:p>
            <a:r>
              <a:rPr lang="lt-LT" dirty="0"/>
              <a:t>Programa – instrukcijos parašytos kalba kurią kompiuteris gali suprasti ir jas vykdyti.</a:t>
            </a:r>
          </a:p>
          <a:p>
            <a:r>
              <a:rPr lang="lt-LT" dirty="0" err="1"/>
              <a:t>Kompiluoti</a:t>
            </a:r>
            <a:r>
              <a:rPr lang="lt-LT" dirty="0"/>
              <a:t> – surinkti visas instrukcijas ir jas sudėlioti taip, kad kompiuteris galėtų jas suprasti.</a:t>
            </a:r>
          </a:p>
          <a:p>
            <a:r>
              <a:rPr lang="lt-LT" dirty="0" err="1"/>
              <a:t>Source</a:t>
            </a:r>
            <a:r>
              <a:rPr lang="lt-LT" dirty="0"/>
              <a:t> kodas – </a:t>
            </a:r>
            <a:r>
              <a:rPr lang="lt-LT" dirty="0" err="1"/>
              <a:t>Nekompliuotas</a:t>
            </a:r>
            <a:r>
              <a:rPr lang="lt-LT" dirty="0"/>
              <a:t> instrukcijų rinkinys, kurį rašo programuotojai.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2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7C2F-545F-C22A-B8F5-E13443C09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Kas vyksta kai mes paleidžiame programą kompiuteryje?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9074-BC32-F6B5-111D-D8681FFCD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lt-LT" dirty="0"/>
              <a:t>Paprasčiausias modelis kurį reikėtų turėti galvoje yra:</a:t>
            </a:r>
          </a:p>
          <a:p>
            <a:endParaRPr lang="lt-LT" dirty="0"/>
          </a:p>
          <a:p>
            <a:pPr marL="0" indent="0">
              <a:buNone/>
            </a:pPr>
            <a:r>
              <a:rPr lang="lt-LT" dirty="0" err="1"/>
              <a:t>Source</a:t>
            </a:r>
            <a:r>
              <a:rPr lang="lt-LT" dirty="0"/>
              <a:t> kodas </a:t>
            </a:r>
          </a:p>
          <a:p>
            <a:pPr marL="0" indent="0">
              <a:buNone/>
            </a:pPr>
            <a:r>
              <a:rPr lang="en-US" dirty="0"/>
              <a:t>↓</a:t>
            </a:r>
            <a:endParaRPr lang="lt-LT" dirty="0"/>
          </a:p>
          <a:p>
            <a:pPr marL="0" indent="0">
              <a:buNone/>
            </a:pPr>
            <a:r>
              <a:rPr lang="lt-LT" dirty="0" err="1"/>
              <a:t>Pythonas</a:t>
            </a:r>
            <a:r>
              <a:rPr lang="lt-LT" dirty="0"/>
              <a:t> perskaito ir interpretuoja instrukcijas (</a:t>
            </a:r>
            <a:r>
              <a:rPr lang="lt-LT" dirty="0" err="1"/>
              <a:t>kompiluoja</a:t>
            </a:r>
            <a:r>
              <a:rPr lang="lt-LT" dirty="0"/>
              <a:t> jas kompiuteriui suprantama kalba)</a:t>
            </a:r>
          </a:p>
          <a:p>
            <a:pPr marL="0" indent="0">
              <a:buNone/>
            </a:pPr>
            <a:r>
              <a:rPr lang="en-US" dirty="0"/>
              <a:t>↓</a:t>
            </a:r>
            <a:endParaRPr lang="lt-LT" dirty="0"/>
          </a:p>
          <a:p>
            <a:pPr marL="0" indent="0">
              <a:buNone/>
            </a:pPr>
            <a:r>
              <a:rPr lang="lt-LT" dirty="0"/>
              <a:t> Kompiuteris vykdo instrukcijas</a:t>
            </a:r>
          </a:p>
          <a:p>
            <a:pPr marL="0" indent="0">
              <a:buNone/>
            </a:pPr>
            <a:r>
              <a:rPr lang="en-US" dirty="0"/>
              <a:t>↓</a:t>
            </a:r>
            <a:endParaRPr lang="lt-LT" dirty="0"/>
          </a:p>
          <a:p>
            <a:pPr marL="0" indent="0">
              <a:buNone/>
            </a:pPr>
            <a:r>
              <a:rPr lang="lt-LT" dirty="0"/>
              <a:t> Kažkas įvyksta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92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AC8E-0E8E-6FC8-73F5-D58AF5CD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Dar daugiau terminų: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F317B-A340-240F-37BF-EE9A2DA40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 err="1"/>
              <a:t>Interpreter</a:t>
            </a:r>
            <a:r>
              <a:rPr lang="lt-LT" dirty="0"/>
              <a:t> – programa, kuri perskaito ir paleidžia instrukcijas</a:t>
            </a:r>
          </a:p>
          <a:p>
            <a:r>
              <a:rPr lang="lt-LT" dirty="0"/>
              <a:t>Terminalas – Vienas iš esminių metodų kaip mes komunikuojame su kompiuteriu</a:t>
            </a:r>
          </a:p>
          <a:p>
            <a:r>
              <a:rPr lang="lt-LT" dirty="0"/>
              <a:t>CPU – </a:t>
            </a:r>
            <a:r>
              <a:rPr lang="lt-LT" dirty="0" err="1"/>
              <a:t>Central</a:t>
            </a:r>
            <a:r>
              <a:rPr lang="lt-LT" dirty="0"/>
              <a:t> </a:t>
            </a:r>
            <a:r>
              <a:rPr lang="lt-LT" dirty="0" err="1"/>
              <a:t>processing</a:t>
            </a:r>
            <a:r>
              <a:rPr lang="lt-LT" dirty="0"/>
              <a:t> </a:t>
            </a:r>
            <a:r>
              <a:rPr lang="lt-LT" dirty="0" err="1"/>
              <a:t>unit</a:t>
            </a:r>
            <a:r>
              <a:rPr lang="lt-LT" dirty="0"/>
              <a:t>. Tai kompiuterio esminės smegenys, kurios atlieka beveik visas mūsų duotas instrukcijas</a:t>
            </a:r>
          </a:p>
          <a:p>
            <a:r>
              <a:rPr lang="lt-LT" dirty="0"/>
              <a:t>RAM – laikinoji atmintis. Laikinai laiko informacija apie programą kurią paleidžiame.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225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446B-64C1-3D67-5FEB-59D6A126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Dabar pasikalbėkime su kompiuteriu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D9847-2963-8492-2753-5DAFDC93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Dabar tikslas yra duoti </a:t>
            </a:r>
            <a:r>
              <a:rPr lang="lt-LT" dirty="0" err="1"/>
              <a:t>pythonui</a:t>
            </a:r>
            <a:r>
              <a:rPr lang="lt-LT" dirty="0"/>
              <a:t> labai paprastas instrukcijas, ir kad </a:t>
            </a:r>
            <a:r>
              <a:rPr lang="lt-LT" dirty="0" err="1"/>
              <a:t>pythonas</a:t>
            </a:r>
            <a:r>
              <a:rPr lang="lt-LT" dirty="0"/>
              <a:t> kažką padarytų:</a:t>
            </a:r>
          </a:p>
          <a:p>
            <a:r>
              <a:rPr lang="lt-LT" dirty="0"/>
              <a:t>Atsidarykit </a:t>
            </a:r>
            <a:r>
              <a:rPr lang="lt-LT" dirty="0" err="1"/>
              <a:t>python</a:t>
            </a:r>
            <a:r>
              <a:rPr lang="lt-LT" dirty="0"/>
              <a:t>:</a:t>
            </a:r>
          </a:p>
          <a:p>
            <a:r>
              <a:rPr lang="lt-LT" dirty="0"/>
              <a:t>Parašykit </a:t>
            </a:r>
            <a:r>
              <a:rPr lang="lt-LT" dirty="0" err="1"/>
              <a:t>help</a:t>
            </a:r>
            <a:r>
              <a:rPr lang="lt-LT" dirty="0"/>
              <a:t> (</a:t>
            </a:r>
            <a:r>
              <a:rPr lang="lt-LT" dirty="0" err="1"/>
              <a:t>panaviguosim</a:t>
            </a:r>
            <a:r>
              <a:rPr lang="lt-LT" dirty="0"/>
              <a:t> kartu)</a:t>
            </a:r>
          </a:p>
          <a:p>
            <a:pPr marL="0" indent="0">
              <a:buNone/>
            </a:pPr>
            <a:r>
              <a:rPr lang="lt-LT" dirty="0"/>
              <a:t>Paprasčiausios komandos, kurias patestuosim;</a:t>
            </a:r>
          </a:p>
          <a:p>
            <a:r>
              <a:rPr lang="lt-LT" dirty="0" err="1"/>
              <a:t>print</a:t>
            </a:r>
            <a:r>
              <a:rPr lang="lt-LT" dirty="0"/>
              <a:t>()</a:t>
            </a:r>
          </a:p>
          <a:p>
            <a:r>
              <a:rPr lang="lt-LT" dirty="0"/>
              <a:t>Paprasta matematika (</a:t>
            </a:r>
            <a:r>
              <a:rPr lang="en-US" dirty="0"/>
              <a:t>+ - / *)</a:t>
            </a:r>
            <a:endParaRPr lang="lt-LT" dirty="0"/>
          </a:p>
          <a:p>
            <a:pPr marL="0" indent="0">
              <a:buNone/>
            </a:pPr>
            <a:endParaRPr lang="lt-L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66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273C-C062-F183-16B2-32BFFB45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404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369CD-3468-5C76-B6F8-CD29CED34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Klaidos</a:t>
            </a:r>
            <a:r>
              <a:rPr lang="en-US" dirty="0"/>
              <a:t> </a:t>
            </a:r>
            <a:r>
              <a:rPr lang="en-US" dirty="0" err="1"/>
              <a:t>programavime</a:t>
            </a:r>
            <a:r>
              <a:rPr lang="en-US" dirty="0"/>
              <a:t> </a:t>
            </a:r>
            <a:r>
              <a:rPr lang="en-US" dirty="0" err="1"/>
              <a:t>yra</a:t>
            </a:r>
            <a:r>
              <a:rPr lang="en-US" dirty="0"/>
              <a:t> </a:t>
            </a:r>
            <a:r>
              <a:rPr lang="lt-LT" dirty="0"/>
              <a:t>labai </a:t>
            </a:r>
            <a:r>
              <a:rPr lang="lt-LT" dirty="0" err="1"/>
              <a:t>labai</a:t>
            </a:r>
            <a:r>
              <a:rPr lang="lt-LT" dirty="0"/>
              <a:t> normalu, kompiuteriai yra „</a:t>
            </a:r>
            <a:r>
              <a:rPr lang="lt-LT" dirty="0" err="1"/>
              <a:t>needy</a:t>
            </a:r>
            <a:r>
              <a:rPr lang="lt-LT" dirty="0"/>
              <a:t> </a:t>
            </a:r>
            <a:r>
              <a:rPr lang="lt-LT" dirty="0" err="1"/>
              <a:t>bitches</a:t>
            </a:r>
            <a:r>
              <a:rPr lang="lt-LT" dirty="0"/>
              <a:t>“ ir nori tikslumo ir detalumo, jie negali nieko interpretuoti, net gramatinių klaidų.</a:t>
            </a:r>
          </a:p>
          <a:p>
            <a:r>
              <a:rPr lang="lt-LT" dirty="0"/>
              <a:t>Jei programuoji ir nesutinki jokių klaidų, tada tiesiog neužtektinai eksperimentuoji.</a:t>
            </a:r>
          </a:p>
          <a:p>
            <a:pPr marL="0" indent="0">
              <a:buNone/>
            </a:pPr>
            <a:endParaRPr lang="lt-L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71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B528-DA04-36F2-F72C-BCADB03C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Su kokia informacija programa gali dirbti?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A7F2-F65C-281D-35D8-CCC0CB37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lt-LT" dirty="0"/>
              <a:t>Viskas ką pasakėt yra teisinga. Nėra informacijos su kuria negalėtų dirbti kompiuteris. Iki tol kol ja galima suskaitmeninti. </a:t>
            </a:r>
            <a:r>
              <a:rPr lang="lt-LT" dirty="0" err="1"/>
              <a:t>Pvz</a:t>
            </a:r>
            <a:r>
              <a:rPr lang="lt-LT" dirty="0"/>
              <a:t>:</a:t>
            </a:r>
          </a:p>
          <a:p>
            <a:r>
              <a:rPr lang="lt-LT" dirty="0"/>
              <a:t>Amžius</a:t>
            </a:r>
          </a:p>
          <a:p>
            <a:r>
              <a:rPr lang="lt-LT" dirty="0" err="1"/>
              <a:t>Kordinatės</a:t>
            </a:r>
            <a:endParaRPr lang="lt-LT" dirty="0"/>
          </a:p>
          <a:p>
            <a:r>
              <a:rPr lang="lt-LT" dirty="0"/>
              <a:t>Tiesa ar melas</a:t>
            </a:r>
          </a:p>
          <a:p>
            <a:r>
              <a:rPr lang="lt-LT" dirty="0"/>
              <a:t>Audinio spalva</a:t>
            </a:r>
          </a:p>
          <a:p>
            <a:r>
              <a:rPr lang="lt-LT" dirty="0"/>
              <a:t>Neuronai</a:t>
            </a:r>
          </a:p>
          <a:p>
            <a:r>
              <a:rPr lang="lt-LT" dirty="0"/>
              <a:t>Pinigai</a:t>
            </a:r>
          </a:p>
          <a:p>
            <a:r>
              <a:rPr lang="lt-LT" dirty="0"/>
              <a:t>Realiai bet kas</a:t>
            </a:r>
          </a:p>
          <a:p>
            <a:endParaRPr lang="lt-L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05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E450-07F0-F3CF-CCD1-FACB7657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lt-LT" dirty="0"/>
              <a:t>O jei kompiuteris negali interpretuoti informacijos, tada kaip jis supranta informacija kuria jam duodi?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4455-AA89-8371-0BCD-4565B76D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/>
          <a:lstStyle/>
          <a:p>
            <a:r>
              <a:rPr lang="lt-LT" dirty="0"/>
              <a:t>Visą informacija gali padalinti į kintamuosius ir konstantas.</a:t>
            </a:r>
          </a:p>
          <a:p>
            <a:r>
              <a:rPr lang="lt-LT" dirty="0"/>
              <a:t>Kintamieji ir konstantos turi tipus, </a:t>
            </a:r>
            <a:r>
              <a:rPr lang="lt-LT" dirty="0" err="1"/>
              <a:t>pvz</a:t>
            </a:r>
            <a:r>
              <a:rPr lang="lt-LT" dirty="0"/>
              <a:t> ar tai yra skaičius, kokio dydžio tai yra skaičius, ar tai yra žodžiai, raidė. </a:t>
            </a:r>
          </a:p>
          <a:p>
            <a:r>
              <a:rPr lang="lt-LT" dirty="0"/>
              <a:t>Informacijos tipų yra </a:t>
            </a:r>
            <a:r>
              <a:rPr lang="en-US" dirty="0"/>
              <a:t>4, </a:t>
            </a:r>
            <a:r>
              <a:rPr lang="en-US" dirty="0" err="1"/>
              <a:t>visi</a:t>
            </a:r>
            <a:r>
              <a:rPr lang="en-US" dirty="0"/>
              <a:t> </a:t>
            </a:r>
            <a:r>
              <a:rPr lang="en-US" dirty="0" err="1"/>
              <a:t>kiti</a:t>
            </a:r>
            <a:r>
              <a:rPr lang="en-US" dirty="0"/>
              <a:t> </a:t>
            </a:r>
            <a:r>
              <a:rPr lang="en-US" dirty="0" err="1"/>
              <a:t>yra</a:t>
            </a:r>
            <a:r>
              <a:rPr lang="en-US" dirty="0"/>
              <a:t> j</a:t>
            </a:r>
            <a:r>
              <a:rPr lang="lt-LT" dirty="0"/>
              <a:t>ų variacijos ir kombinacijos.</a:t>
            </a:r>
          </a:p>
          <a:p>
            <a:r>
              <a:rPr lang="lt-LT" dirty="0"/>
              <a:t>Gali </a:t>
            </a:r>
            <a:r>
              <a:rPr lang="lt-LT" dirty="0" err="1"/>
              <a:t>paiimti</a:t>
            </a:r>
            <a:r>
              <a:rPr lang="lt-LT" dirty="0"/>
              <a:t> jau egzistuojančius kintamuosius ir konstantas, su jais daryti matematines operacijas, kurti naujus kintamuosius ir keisti jau egzistuojančius informacijos tipus.</a:t>
            </a:r>
          </a:p>
          <a:p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550719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BA62-ABBD-4E89-C531-0557A806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Kintamieji: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48221-F633-02DE-74E1-FCED7081F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 err="1"/>
              <a:t>Integer</a:t>
            </a:r>
            <a:endParaRPr lang="lt-LT" dirty="0"/>
          </a:p>
          <a:p>
            <a:r>
              <a:rPr lang="lt-LT" dirty="0" err="1"/>
              <a:t>Char</a:t>
            </a:r>
            <a:endParaRPr lang="lt-LT" dirty="0"/>
          </a:p>
          <a:p>
            <a:r>
              <a:rPr lang="lt-LT" dirty="0" err="1"/>
              <a:t>Floating</a:t>
            </a:r>
            <a:r>
              <a:rPr lang="lt-LT" dirty="0"/>
              <a:t> </a:t>
            </a:r>
            <a:r>
              <a:rPr lang="lt-LT" dirty="0" err="1"/>
              <a:t>point</a:t>
            </a:r>
            <a:endParaRPr lang="lt-LT" dirty="0"/>
          </a:p>
          <a:p>
            <a:r>
              <a:rPr lang="lt-LT" dirty="0" err="1"/>
              <a:t>Boolean</a:t>
            </a:r>
            <a:endParaRPr lang="lt-LT" dirty="0"/>
          </a:p>
          <a:p>
            <a:endParaRPr lang="lt-L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70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CE057-9A08-0905-F598-6A9820CD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Composite</a:t>
            </a:r>
            <a:r>
              <a:rPr lang="lt-LT" dirty="0"/>
              <a:t> Kintamieji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E723-6067-F5CE-693B-7DF3C067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 err="1"/>
              <a:t>String</a:t>
            </a:r>
            <a:endParaRPr lang="lt-LT" dirty="0"/>
          </a:p>
          <a:p>
            <a:r>
              <a:rPr lang="lt-LT" dirty="0" err="1"/>
              <a:t>Array</a:t>
            </a:r>
            <a:endParaRPr lang="lt-LT" dirty="0"/>
          </a:p>
          <a:p>
            <a:r>
              <a:rPr lang="lt-LT" dirty="0" err="1"/>
              <a:t>List</a:t>
            </a:r>
            <a:endParaRPr lang="lt-LT" dirty="0"/>
          </a:p>
          <a:p>
            <a:r>
              <a:rPr lang="lt-LT" dirty="0" err="1"/>
              <a:t>Object</a:t>
            </a:r>
            <a:endParaRPr lang="lt-LT" dirty="0"/>
          </a:p>
          <a:p>
            <a:r>
              <a:rPr lang="lt-LT" dirty="0" err="1"/>
              <a:t>Dictionary</a:t>
            </a:r>
            <a:endParaRPr lang="lt-LT" dirty="0"/>
          </a:p>
          <a:p>
            <a:r>
              <a:rPr lang="lt-LT" dirty="0" err="1"/>
              <a:t>Matrix</a:t>
            </a:r>
            <a:endParaRPr lang="lt-LT" dirty="0"/>
          </a:p>
          <a:p>
            <a:r>
              <a:rPr lang="lt-LT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61255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69DB-D60A-AF49-1C68-513F7039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>
                <a:solidFill>
                  <a:srgbClr val="000000"/>
                </a:solidFill>
                <a:latin typeface="Calibri"/>
              </a:rPr>
              <a:t>Kintamieji nėra magija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849B-B726-4D72-136F-F02F43D65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Kintamasis yra vardas, kuriuo nurodom į kažkokią reikšmę.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Svarbiausias klausimas: ką programa žino šiuo momentu?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Jeigu reikšmė pasikeičia, pasikeičia ir programos būsena.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Šitas mąstymas vėliau gelbės su žaidimais, automatizacija, klaidom ir viskuo kitu.</a:t>
            </a:r>
          </a:p>
        </p:txBody>
      </p:sp>
    </p:spTree>
    <p:extLst>
      <p:ext uri="{BB962C8B-B14F-4D97-AF65-F5344CB8AC3E}">
        <p14:creationId xmlns:p14="http://schemas.microsoft.com/office/powerpoint/2010/main" val="2841752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107D-2583-3BCD-263E-DE243AE1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Calibri"/>
              </a:rPr>
              <a:t>Mažas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mentalinis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pratimas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F002-6FC8-1E3E-C690-495DE807D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Duodu kelias instrukcijas.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Jūs galvoje sekat, kokios reikšmės yra kintamuosiuose. (sudėtingesnės programos atveju gali prireikti pasibraižyti medį)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Tik tada paleidžiam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Python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 ir tikrinam ar mūsų galva įvykdė programą taip pat.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Predict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 →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run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 →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compare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. Šitą kartosim labai dažnai.</a:t>
            </a:r>
          </a:p>
        </p:txBody>
      </p:sp>
    </p:spTree>
    <p:extLst>
      <p:ext uri="{BB962C8B-B14F-4D97-AF65-F5344CB8AC3E}">
        <p14:creationId xmlns:p14="http://schemas.microsoft.com/office/powerpoint/2010/main" val="2560071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987A-B059-A3B9-433D-55FE7C29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Pasikalbėkime vėl su kompiuteriu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A4468-D134-3D2D-F6DE-E8BF28E5A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Sukuriame kelis kintamuosius ir konstantas</a:t>
            </a:r>
          </a:p>
          <a:p>
            <a:r>
              <a:rPr lang="lt-LT" dirty="0"/>
              <a:t>Keičiame jų reikšmes</a:t>
            </a:r>
          </a:p>
          <a:p>
            <a:r>
              <a:rPr lang="lt-LT" dirty="0"/>
              <a:t>Skaičiuojame naujas reikšmes iš senų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014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E951-C13A-90CE-2173-92F19476A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Calibri"/>
              </a:rPr>
              <a:t>Operatoriai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ir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operandai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CB657-9482-6EC7-6ECB-A2AC51065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Operatorius – simbolis / veiksmas, kuris kažką padaro su reikšmėmis.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Operandai – reikšmės su kuriomis tas operatorius dirba.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+, -, *, / – šiandien užtenka šitų.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Kol kas nebandykit įsiminti visų operatorių. Pirmiausia reikia pagauti pačią idėją.</a:t>
            </a:r>
          </a:p>
        </p:txBody>
      </p:sp>
    </p:spTree>
    <p:extLst>
      <p:ext uri="{BB962C8B-B14F-4D97-AF65-F5344CB8AC3E}">
        <p14:creationId xmlns:p14="http://schemas.microsoft.com/office/powerpoint/2010/main" val="4251665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9F93-FE39-6386-C684-89D1F279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Calibri"/>
              </a:rPr>
              <a:t>Išraiškos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7B6D-A2A7-7667-053E-BDDB4FC44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Išraiška – reikšmių, kintamųjų ir operatorių kombinacija, kuri pagamina naują reikšmę.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Kompiuteris ne „supranta formulę“, jis ją įvykdo pagal taisykles.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Jeigu neaišku kokia tvarka vyksta skaičiavimas – naudokit skliaustus.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Aiškumas &gt; bandymas atrodyti protingai.</a:t>
            </a:r>
          </a:p>
        </p:txBody>
      </p:sp>
    </p:spTree>
    <p:extLst>
      <p:ext uri="{BB962C8B-B14F-4D97-AF65-F5344CB8AC3E}">
        <p14:creationId xmlns:p14="http://schemas.microsoft.com/office/powerpoint/2010/main" val="2133214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27C6-8D42-E5C1-A7BC-6A447174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lt-LT" dirty="0"/>
              <a:t>ą aš tuo noriu pasakyti?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1943-FCCB-FF0A-CF33-FBD7BA05F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Ta pati problema turi begalybe sprendimų</a:t>
            </a:r>
          </a:p>
          <a:p>
            <a:r>
              <a:rPr lang="lt-LT" dirty="0"/>
              <a:t>Iš esmės programavimas yra pasirinkimų menas. Kiekvienas pasirinkimas turi savo pliusus ir minusus.</a:t>
            </a:r>
          </a:p>
          <a:p>
            <a:r>
              <a:rPr lang="lt-LT" dirty="0"/>
              <a:t>Geriausias kodas yra aiškus, save dokumentuojantis ir su minimaliais kaštais atlieka savo paskirtį</a:t>
            </a:r>
          </a:p>
        </p:txBody>
      </p:sp>
    </p:spTree>
    <p:extLst>
      <p:ext uri="{BB962C8B-B14F-4D97-AF65-F5344CB8AC3E}">
        <p14:creationId xmlns:p14="http://schemas.microsoft.com/office/powerpoint/2010/main" val="2901601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91E1-2579-BBC0-3B30-645DC302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Calibri"/>
              </a:rPr>
              <a:t>Vykdymo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tvarka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1C26-3485-55CB-7410-D77AD67D8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Programa vykdoma žingsnis po žingsnio.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Tvarka keičia rezultatą.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Jeigu viena eilutė priklauso nuo ankstesnės reikšmės, svarbu kas įvyko prieš tai.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Todėl skaitydami kodą visada klausiame: kas yra tiesa dabar?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537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5593-F54F-C1A1-6B95-A552523E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Input → Processing → 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F29D-CB8B-FD4A-BAD2-5AF93A7D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dirty="0">
                <a:solidFill>
                  <a:srgbClr val="000000"/>
                </a:solidFill>
                <a:latin typeface="Calibri"/>
              </a:rPr>
              <a:t> Input –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informacija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ateina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į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programą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000000"/>
                </a:solidFill>
                <a:latin typeface="Calibri"/>
              </a:rPr>
              <a:t> Processing –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programa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ją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apdoroja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000000"/>
                </a:solidFill>
                <a:latin typeface="Calibri"/>
              </a:rPr>
              <a:t> Output –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programa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kažką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grąžina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arba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parodo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Skirtingos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programos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atrodo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skirtingai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, bet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šitas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modelis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atsikartoja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visur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83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0B9D-4E72-BB9C-B498-66E6E830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>
                <a:solidFill>
                  <a:srgbClr val="000000"/>
                </a:solidFill>
                <a:latin typeface="Calibri"/>
              </a:rPr>
              <a:t>Kur tai matosi realybėje?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76D98-84D1-27DD-484F-D1956ABFE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Skaičiuotuvas: skaičiai → veiksmai → atsakymas.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Žaidimas: žaidėjo veiksmas → taisyklės → pasikeitusi būsena.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Automatizacija: failai → apdorojimas → sutvarkyti failai.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Modelis / simuliacija: parametrai → skaičiavimai → prognozė.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334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2129-9BED-4AAB-F022-FC8E44EA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Dabar jau </a:t>
            </a:r>
            <a:r>
              <a:rPr lang="lt-LT" dirty="0" err="1"/>
              <a:t>biški</a:t>
            </a:r>
            <a:r>
              <a:rPr lang="lt-LT" dirty="0"/>
              <a:t> rimčiau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951E7-0FFF-10CE-F5ED-F90A0AFB1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Parašysime kartu programą, kuri paklausia kelių reikšmių</a:t>
            </a:r>
          </a:p>
          <a:p>
            <a:r>
              <a:rPr lang="lt-LT" dirty="0"/>
              <a:t>Programa jas panaudoja skaičiavimui</a:t>
            </a:r>
          </a:p>
          <a:p>
            <a:r>
              <a:rPr lang="lt-LT" dirty="0"/>
              <a:t>Programa aiškiai parodo rezultatą</a:t>
            </a:r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endParaRPr lang="lt-LT" dirty="0"/>
          </a:p>
          <a:p>
            <a:pPr marL="0" indent="0">
              <a:buNone/>
            </a:pPr>
            <a:r>
              <a:rPr lang="lt-LT" dirty="0"/>
              <a:t>Naudosime:</a:t>
            </a:r>
          </a:p>
          <a:p>
            <a:pPr marL="0" indent="0">
              <a:buNone/>
            </a:pPr>
            <a:r>
              <a:rPr lang="en-US" dirty="0"/>
              <a:t>var = input()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apdorotas</a:t>
            </a:r>
            <a:r>
              <a:rPr lang="en-US" dirty="0"/>
              <a:t> </a:t>
            </a:r>
            <a:r>
              <a:rPr lang="en-US" dirty="0" err="1"/>
              <a:t>kintamasis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5601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3BD7-D23A-EE31-428C-6A2E52E7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 err="1"/>
              <a:t>Okey</a:t>
            </a:r>
            <a:r>
              <a:rPr lang="lt-LT" dirty="0"/>
              <a:t> dabar pabandykit patys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3C75D-B828-B3A1-5DA5-801ED666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t-LT" dirty="0"/>
              <a:t>Sukurkit programą, kuri </a:t>
            </a:r>
            <a:r>
              <a:rPr lang="lt-LT" dirty="0" err="1"/>
              <a:t>paiima</a:t>
            </a:r>
            <a:r>
              <a:rPr lang="lt-LT" dirty="0"/>
              <a:t> </a:t>
            </a:r>
            <a:r>
              <a:rPr lang="en-US" dirty="0"/>
              <a:t>3 </a:t>
            </a:r>
            <a:r>
              <a:rPr lang="en-US" dirty="0" err="1"/>
              <a:t>skai</a:t>
            </a:r>
            <a:r>
              <a:rPr lang="lt-LT" dirty="0" err="1"/>
              <a:t>čius</a:t>
            </a:r>
            <a:r>
              <a:rPr lang="lt-LT" dirty="0"/>
              <a:t>, juos sudeda, tada paprašo dar vieno skaičiaus ir viską kartu sudaugina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61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763F-DB20-BF28-4CBB-0ED8B7FC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Santrauka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B5E37-DCB6-7339-428D-57C45F3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Programa yra instrukcijų rinkinys.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Python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 interpretuoja tas instrukcijas.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Programa dirba su reikšmėmis.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Kintamieji leidžia sekti informaciją.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Operatoriai ir išraiškos leidžia tą informaciją keisti.</a:t>
            </a:r>
          </a:p>
          <a:p>
            <a:pPr>
              <a:spcAft>
                <a:spcPts val="400"/>
              </a:spcAft>
            </a:pPr>
            <a:r>
              <a:rPr lang="lt-LT" dirty="0">
                <a:solidFill>
                  <a:srgbClr val="000000"/>
                </a:solidFill>
                <a:latin typeface="Calibri"/>
              </a:rPr>
              <a:t> Daug programų galima matyti kaip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input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 →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processing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 → </a:t>
            </a:r>
            <a:r>
              <a:rPr lang="lt-LT" dirty="0" err="1">
                <a:solidFill>
                  <a:srgbClr val="000000"/>
                </a:solidFill>
                <a:latin typeface="Calibri"/>
              </a:rPr>
              <a:t>output</a:t>
            </a:r>
            <a:r>
              <a:rPr lang="lt-LT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017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78F2-9E90-44D2-B7F8-0FAB550C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Ar norit daugiau šiandien?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AF99A-716A-FC34-C0E3-FF3C98F2F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30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1411-E01D-34CB-FD07-5BB6D1791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Gerai </a:t>
            </a:r>
            <a:r>
              <a:rPr lang="lt-LT" dirty="0" err="1"/>
              <a:t>siunčiames</a:t>
            </a:r>
            <a:r>
              <a:rPr lang="lt-LT" dirty="0"/>
              <a:t> IDE (</a:t>
            </a:r>
            <a:r>
              <a:rPr lang="lt-LT" dirty="0" err="1"/>
              <a:t>integrated</a:t>
            </a:r>
            <a:r>
              <a:rPr lang="lt-LT" dirty="0"/>
              <a:t> </a:t>
            </a:r>
            <a:r>
              <a:rPr lang="lt-LT" dirty="0" err="1"/>
              <a:t>developer</a:t>
            </a:r>
            <a:r>
              <a:rPr lang="lt-LT" dirty="0"/>
              <a:t> </a:t>
            </a:r>
            <a:r>
              <a:rPr lang="lt-LT" dirty="0" err="1"/>
              <a:t>enviorment</a:t>
            </a:r>
            <a:r>
              <a:rPr lang="lt-LT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25CFF-6FD2-1C3F-F58C-C07874B04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t-LT" dirty="0"/>
              <a:t>Kadangi programuojame </a:t>
            </a:r>
            <a:r>
              <a:rPr lang="lt-LT" dirty="0" err="1"/>
              <a:t>python</a:t>
            </a:r>
            <a:r>
              <a:rPr lang="lt-LT" dirty="0"/>
              <a:t>, turime kelias opcijas:</a:t>
            </a:r>
          </a:p>
          <a:p>
            <a:r>
              <a:rPr lang="lt-LT" dirty="0"/>
              <a:t>VS </a:t>
            </a:r>
            <a:r>
              <a:rPr lang="lt-LT" dirty="0" err="1"/>
              <a:t>code</a:t>
            </a:r>
            <a:endParaRPr lang="lt-LT" dirty="0"/>
          </a:p>
          <a:p>
            <a:r>
              <a:rPr lang="lt-LT" dirty="0" err="1"/>
              <a:t>PyCharm</a:t>
            </a:r>
            <a:endParaRPr lang="lt-LT" dirty="0"/>
          </a:p>
          <a:p>
            <a:r>
              <a:rPr lang="lt-LT" dirty="0" err="1"/>
              <a:t>NeoVim</a:t>
            </a:r>
            <a:r>
              <a:rPr lang="lt-LT" dirty="0"/>
              <a:t> (jeigu renkiesi šita, tada man tau nieko aiškinti tikrai nereikia)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Naudosime</a:t>
            </a:r>
            <a:r>
              <a:rPr lang="en-US" dirty="0"/>
              <a:t> VS Code, </a:t>
            </a:r>
            <a:r>
              <a:rPr lang="en-US" dirty="0" err="1"/>
              <a:t>nes</a:t>
            </a:r>
            <a:r>
              <a:rPr lang="en-US" dirty="0"/>
              <a:t> </a:t>
            </a:r>
            <a:r>
              <a:rPr lang="en-US" dirty="0" err="1"/>
              <a:t>jis</a:t>
            </a:r>
            <a:r>
              <a:rPr lang="en-US" dirty="0"/>
              <a:t> </a:t>
            </a:r>
            <a:r>
              <a:rPr lang="en-US" dirty="0" err="1"/>
              <a:t>universaliausias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02853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ADAF-6E3A-7C3B-1FA6-A345EB25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Parsisi</a:t>
            </a:r>
            <a:r>
              <a:rPr lang="lt-LT" dirty="0" err="1"/>
              <a:t>ųskit</a:t>
            </a:r>
            <a:r>
              <a:rPr lang="lt-LT" dirty="0"/>
              <a:t>, galėsim eit </a:t>
            </a:r>
            <a:r>
              <a:rPr lang="lt-LT" dirty="0" err="1"/>
              <a:t>makliavot</a:t>
            </a:r>
            <a:endParaRPr lang="en-US" dirty="0"/>
          </a:p>
        </p:txBody>
      </p:sp>
      <p:pic>
        <p:nvPicPr>
          <p:cNvPr id="4" name="Content Placeholder 3" descr="QR preview">
            <a:extLst>
              <a:ext uri="{FF2B5EF4-FFF2-40B4-BE49-F238E27FC236}">
                <a16:creationId xmlns:a16="http://schemas.microsoft.com/office/drawing/2014/main" id="{5CB3FAC4-4D7B-94BA-A3A5-5121F35F9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1897" y="1897191"/>
            <a:ext cx="4719484" cy="471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87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1254</Words>
  <Application>Microsoft Office PowerPoint</Application>
  <PresentationFormat>Widescreen</PresentationFormat>
  <Paragraphs>171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Office Theme</vt:lpstr>
      <vt:lpstr>Programavimo pradmenys su Python</vt:lpstr>
      <vt:lpstr>Tikslas:</vt:lpstr>
      <vt:lpstr>Kaip vyks pamokėlės?</vt:lpstr>
      <vt:lpstr>Materialai:</vt:lpstr>
      <vt:lpstr>Apie ką yapinsiu šiandien:</vt:lpstr>
      <vt:lpstr>Ir pati programa</vt:lpstr>
      <vt:lpstr>Dabar prieš pradedant parsisiųskit python, kad nereikėtų laukt:</vt:lpstr>
      <vt:lpstr>Kas apskritai yra programavimas?</vt:lpstr>
      <vt:lpstr>Kas apskritai yra programavimas?</vt:lpstr>
      <vt:lpstr>Keli esminiai terminai, prieš judant toliau</vt:lpstr>
      <vt:lpstr>Kas vyksta kai mes paleidžiame programą kompiuteryje?</vt:lpstr>
      <vt:lpstr>Dar daugiau terminų:</vt:lpstr>
      <vt:lpstr>Dabar pasikalbėkime su kompiuteriu</vt:lpstr>
      <vt:lpstr>ERROR 404</vt:lpstr>
      <vt:lpstr>Su kokia informacija programa gali dirbti?</vt:lpstr>
      <vt:lpstr>O jei kompiuteris negali interpretuoti informacijos, tada kaip jis supranta informacija kuria jam duodi?</vt:lpstr>
      <vt:lpstr>Kintamieji:</vt:lpstr>
      <vt:lpstr>Composite Kintamieji</vt:lpstr>
      <vt:lpstr>Kintamieji nėra magija</vt:lpstr>
      <vt:lpstr>Mažas mentalinis pratimas</vt:lpstr>
      <vt:lpstr>Pasikalbėkime vėl su kompiuteriu</vt:lpstr>
      <vt:lpstr>Operatoriai ir operandai</vt:lpstr>
      <vt:lpstr>Išraiškos</vt:lpstr>
      <vt:lpstr>Ką aš tuo noriu pasakyti?</vt:lpstr>
      <vt:lpstr>Vykdymo tvarka</vt:lpstr>
      <vt:lpstr>Input → Processing → Output</vt:lpstr>
      <vt:lpstr>Kur tai matosi realybėje?</vt:lpstr>
      <vt:lpstr>Dabar jau biški rimčiau</vt:lpstr>
      <vt:lpstr>Okey dabar pabandykit patys</vt:lpstr>
      <vt:lpstr>Santrauka</vt:lpstr>
      <vt:lpstr>Ar norit daugiau šiandien?</vt:lpstr>
      <vt:lpstr>Gerai siunčiames IDE (integrated developer enviorment)</vt:lpstr>
      <vt:lpstr>Parsisiųskit, galėsim eit makliavot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Vilius Raguotis</dc:creator>
  <cp:lastModifiedBy>Vilius Raguotis</cp:lastModifiedBy>
  <cp:revision>6</cp:revision>
  <dcterms:created xsi:type="dcterms:W3CDTF">2026-09-19T12:33:24Z</dcterms:created>
  <dcterms:modified xsi:type="dcterms:W3CDTF">2026-09-22T10:31:36Z</dcterms:modified>
</cp:coreProperties>
</file>